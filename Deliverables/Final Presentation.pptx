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60" r:id="rId6"/>
    <p:sldId id="258" r:id="rId7"/>
    <p:sldId id="259" r:id="rId8"/>
    <p:sldId id="282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68" r:id="rId17"/>
    <p:sldId id="272" r:id="rId18"/>
    <p:sldId id="273" r:id="rId19"/>
    <p:sldId id="275" r:id="rId20"/>
    <p:sldId id="279" r:id="rId21"/>
    <p:sldId id="276" r:id="rId22"/>
    <p:sldId id="280" r:id="rId23"/>
    <p:sldId id="277" r:id="rId24"/>
    <p:sldId id="27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E5C"/>
    <a:srgbClr val="FECECE"/>
    <a:srgbClr val="FC8E8E"/>
    <a:srgbClr val="DAE3F3"/>
    <a:srgbClr val="F4FCFC"/>
    <a:srgbClr val="5B667A"/>
    <a:srgbClr val="969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B723C-62F4-41AB-9B1D-515809F18DC3}" v="13" dt="2026-09-02T13:59:29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Khaskia" userId="914facc1-a4c0-42f9-97a9-d163167bcdb5" providerId="ADAL" clId="{BF960854-DADE-43F4-8795-166893A7CFEF}"/>
    <pc:docChg chg="modSld">
      <pc:chgData name="Malak Khaskia" userId="914facc1-a4c0-42f9-97a9-d163167bcdb5" providerId="ADAL" clId="{BF960854-DADE-43F4-8795-166893A7CFEF}" dt="2026-09-02T13:59:29.517" v="11"/>
      <pc:docMkLst>
        <pc:docMk/>
      </pc:docMkLst>
      <pc:sldChg chg="modSp">
        <pc:chgData name="Malak Khaskia" userId="914facc1-a4c0-42f9-97a9-d163167bcdb5" providerId="ADAL" clId="{BF960854-DADE-43F4-8795-166893A7CFEF}" dt="2026-09-02T11:05:46.567" v="10"/>
        <pc:sldMkLst>
          <pc:docMk/>
          <pc:sldMk cId="2194483596" sldId="256"/>
        </pc:sldMkLst>
        <pc:spChg chg="mod">
          <ac:chgData name="Malak Khaskia" userId="914facc1-a4c0-42f9-97a9-d163167bcdb5" providerId="ADAL" clId="{BF960854-DADE-43F4-8795-166893A7CFEF}" dt="2026-09-02T11:05:46.567" v="10"/>
          <ac:spMkLst>
            <pc:docMk/>
            <pc:sldMk cId="2194483596" sldId="256"/>
            <ac:spMk id="8" creationId="{00000000-0000-0000-0000-000000000000}"/>
          </ac:spMkLst>
        </pc:spChg>
      </pc:sldChg>
      <pc:sldChg chg="addSp modSp">
        <pc:chgData name="Malak Khaskia" userId="914facc1-a4c0-42f9-97a9-d163167bcdb5" providerId="ADAL" clId="{BF960854-DADE-43F4-8795-166893A7CFEF}" dt="2026-09-02T10:50:01.223" v="8"/>
        <pc:sldMkLst>
          <pc:docMk/>
          <pc:sldMk cId="3073847839" sldId="276"/>
        </pc:sldMkLst>
        <pc:spChg chg="mod">
          <ac:chgData name="Malak Khaskia" userId="914facc1-a4c0-42f9-97a9-d163167bcdb5" providerId="ADAL" clId="{BF960854-DADE-43F4-8795-166893A7CFEF}" dt="2026-09-02T10:47:14.845" v="7" actId="20578"/>
          <ac:spMkLst>
            <pc:docMk/>
            <pc:sldMk cId="3073847839" sldId="276"/>
            <ac:spMk id="177" creationId="{00000000-0000-0000-0000-000000000000}"/>
          </ac:spMkLst>
        </pc:spChg>
        <pc:spChg chg="mod">
          <ac:chgData name="Malak Khaskia" userId="914facc1-a4c0-42f9-97a9-d163167bcdb5" providerId="ADAL" clId="{BF960854-DADE-43F4-8795-166893A7CFEF}" dt="2026-09-02T10:50:01.223" v="8"/>
          <ac:spMkLst>
            <pc:docMk/>
            <pc:sldMk cId="3073847839" sldId="276"/>
            <ac:spMk id="179" creationId="{00000000-0000-0000-0000-000000000000}"/>
          </ac:spMkLst>
        </pc:spChg>
        <pc:picChg chg="add mod">
          <ac:chgData name="Malak Khaskia" userId="914facc1-a4c0-42f9-97a9-d163167bcdb5" providerId="ADAL" clId="{BF960854-DADE-43F4-8795-166893A7CFEF}" dt="2026-09-02T10:37:42.931" v="1"/>
          <ac:picMkLst>
            <pc:docMk/>
            <pc:sldMk cId="3073847839" sldId="276"/>
            <ac:picMk id="4" creationId="{5F94E106-22E0-E82D-5DA0-86C73A9CD157}"/>
          </ac:picMkLst>
        </pc:picChg>
        <pc:picChg chg="add mod">
          <ac:chgData name="Malak Khaskia" userId="914facc1-a4c0-42f9-97a9-d163167bcdb5" providerId="ADAL" clId="{BF960854-DADE-43F4-8795-166893A7CFEF}" dt="2026-09-02T10:37:46.571" v="2"/>
          <ac:picMkLst>
            <pc:docMk/>
            <pc:sldMk cId="3073847839" sldId="276"/>
            <ac:picMk id="9" creationId="{AA5D13F3-E6A9-11B6-756A-EA23F81633AA}"/>
          </ac:picMkLst>
        </pc:picChg>
      </pc:sldChg>
      <pc:sldChg chg="modSp">
        <pc:chgData name="Malak Khaskia" userId="914facc1-a4c0-42f9-97a9-d163167bcdb5" providerId="ADAL" clId="{BF960854-DADE-43F4-8795-166893A7CFEF}" dt="2026-09-02T10:53:55.723" v="9"/>
        <pc:sldMkLst>
          <pc:docMk/>
          <pc:sldMk cId="1554639588" sldId="278"/>
        </pc:sldMkLst>
        <pc:graphicFrameChg chg="mod">
          <ac:chgData name="Malak Khaskia" userId="914facc1-a4c0-42f9-97a9-d163167bcdb5" providerId="ADAL" clId="{BF960854-DADE-43F4-8795-166893A7CFEF}" dt="2026-09-02T10:53:55.723" v="9"/>
          <ac:graphicFrameMkLst>
            <pc:docMk/>
            <pc:sldMk cId="1554639588" sldId="278"/>
            <ac:graphicFrameMk id="8" creationId="{00000000-0000-0000-0000-000000000000}"/>
          </ac:graphicFrameMkLst>
        </pc:graphicFrameChg>
      </pc:sldChg>
      <pc:sldChg chg="modSp">
        <pc:chgData name="Malak Khaskia" userId="914facc1-a4c0-42f9-97a9-d163167bcdb5" providerId="ADAL" clId="{BF960854-DADE-43F4-8795-166893A7CFEF}" dt="2026-09-02T13:59:29.517" v="11"/>
        <pc:sldMkLst>
          <pc:docMk/>
          <pc:sldMk cId="1989565060" sldId="281"/>
        </pc:sldMkLst>
        <pc:spChg chg="mod">
          <ac:chgData name="Malak Khaskia" userId="914facc1-a4c0-42f9-97a9-d163167bcdb5" providerId="ADAL" clId="{BF960854-DADE-43F4-8795-166893A7CFEF}" dt="2026-09-02T13:59:29.517" v="11"/>
          <ac:spMkLst>
            <pc:docMk/>
            <pc:sldMk cId="1989565060" sldId="281"/>
            <ac:spMk id="10" creationId="{F36C015E-AE08-27C0-3D09-6FC9D24FA5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ianajjar/Spline_ASIC.git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תמונה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359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9965" y="3198123"/>
            <a:ext cx="4383742" cy="1352549"/>
          </a:xfrm>
        </p:spPr>
        <p:txBody>
          <a:bodyPr>
            <a:normAutofit/>
          </a:bodyPr>
          <a:lstStyle/>
          <a:p>
            <a:pPr>
              <a:spcBef>
                <a:spcPts val="2600"/>
              </a:spcBef>
              <a:buNone/>
            </a:pPr>
            <a:r>
              <a:rPr lang="en-US" sz="2000" b="1" dirty="0">
                <a:solidFill>
                  <a:srgbClr val="1A1A1A"/>
                </a:solidFill>
              </a:rPr>
              <a:t>Project No. 3439</a:t>
            </a:r>
          </a:p>
          <a:p>
            <a:pPr>
              <a:spcBef>
                <a:spcPts val="1400"/>
              </a:spcBef>
              <a:buNone/>
            </a:pPr>
            <a:r>
              <a:rPr lang="en-US" sz="2000" dirty="0">
                <a:solidFill>
                  <a:srgbClr val="1A1A1A"/>
                </a:solidFill>
              </a:rPr>
              <a:t>Maria </a:t>
            </a:r>
            <a:r>
              <a:rPr lang="en-US" sz="2000" dirty="0" err="1">
                <a:solidFill>
                  <a:srgbClr val="1A1A1A"/>
                </a:solidFill>
              </a:rPr>
              <a:t>Najjar</a:t>
            </a:r>
            <a:r>
              <a:rPr lang="en-US" sz="2000" dirty="0">
                <a:solidFill>
                  <a:srgbClr val="1A1A1A"/>
                </a:solidFill>
              </a:rPr>
              <a:t> |   </a:t>
            </a:r>
            <a:r>
              <a:rPr lang="en-US" sz="2000" dirty="0" err="1">
                <a:solidFill>
                  <a:srgbClr val="1A1A1A"/>
                </a:solidFill>
              </a:rPr>
              <a:t>Malak</a:t>
            </a:r>
            <a:r>
              <a:rPr lang="en-US" sz="2000" dirty="0">
                <a:solidFill>
                  <a:srgbClr val="1A1A1A"/>
                </a:solidFill>
              </a:rPr>
              <a:t> </a:t>
            </a:r>
            <a:r>
              <a:rPr lang="en-US" sz="2000" dirty="0" err="1">
                <a:solidFill>
                  <a:srgbClr val="1A1A1A"/>
                </a:solidFill>
              </a:rPr>
              <a:t>Khaskia</a:t>
            </a:r>
            <a:endParaRPr lang="en-US" sz="2000" dirty="0">
              <a:solidFill>
                <a:srgbClr val="1A1A1A"/>
              </a:solidFill>
            </a:endParaRPr>
          </a:p>
          <a:p>
            <a:pPr>
              <a:spcBef>
                <a:spcPts val="1400"/>
              </a:spcBef>
              <a:buNone/>
            </a:pPr>
            <a:r>
              <a:rPr lang="en-US" sz="2000" dirty="0">
                <a:solidFill>
                  <a:srgbClr val="1A1A1A"/>
                </a:solidFill>
              </a:rPr>
              <a:t>Advisor: Mohammad </a:t>
            </a:r>
            <a:r>
              <a:rPr lang="en-US" sz="2000" dirty="0" err="1">
                <a:solidFill>
                  <a:srgbClr val="1A1A1A"/>
                </a:solidFill>
              </a:rPr>
              <a:t>Khamaysi</a:t>
            </a:r>
            <a:endParaRPr lang="en-US" sz="2000" dirty="0">
              <a:solidFill>
                <a:srgbClr val="1A1A1A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sp>
        <p:nvSpPr>
          <p:cNvPr id="10" name="כותרת 1"/>
          <p:cNvSpPr>
            <a:spLocks noGrp="1"/>
          </p:cNvSpPr>
          <p:nvPr>
            <p:ph type="title"/>
          </p:nvPr>
        </p:nvSpPr>
        <p:spPr>
          <a:xfrm>
            <a:off x="712060" y="2212010"/>
            <a:ext cx="6749603" cy="43666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  <a:cs typeface="Calibri" panose="020F0502020204030204" pitchFamily="34" charset="0"/>
              </a:rPr>
              <a:t/>
            </a:r>
            <a:br>
              <a:rPr lang="en-US" sz="2400" b="1" dirty="0">
                <a:latin typeface="+mn-lt"/>
                <a:cs typeface="Calibri" panose="020F0502020204030204" pitchFamily="34" charset="0"/>
              </a:rPr>
            </a:br>
            <a:r>
              <a:rPr lang="en-US" sz="1600" b="1" dirty="0">
                <a:latin typeface="+mn-lt"/>
                <a:cs typeface="Calibri" panose="020F0502020204030204" pitchFamily="34" charset="0"/>
              </a:rPr>
              <a:t/>
            </a:r>
            <a:br>
              <a:rPr lang="en-US" sz="1600" b="1" dirty="0">
                <a:latin typeface="+mn-lt"/>
                <a:cs typeface="Calibri" panose="020F0502020204030204" pitchFamily="34" charset="0"/>
              </a:rPr>
            </a:b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RTL&amp; full flow to GDSII</a:t>
            </a:r>
            <a:r>
              <a:rPr lang="en-US" sz="1600" b="1" dirty="0">
                <a:latin typeface="+mn-lt"/>
                <a:cs typeface="Calibri" panose="020F0502020204030204" pitchFamily="34" charset="0"/>
              </a:rPr>
              <a:t>| TSMC 65nm </a:t>
            </a:r>
            <a:r>
              <a:rPr lang="en-US" sz="5400" dirty="0"/>
              <a:t/>
            </a:r>
            <a:br>
              <a:rPr lang="en-US" sz="5400" dirty="0"/>
            </a:br>
            <a:endParaRPr lang="he-IL" sz="5400" dirty="0"/>
          </a:p>
        </p:txBody>
      </p:sp>
      <p:sp>
        <p:nvSpPr>
          <p:cNvPr id="11" name="Text 36"/>
          <p:cNvSpPr/>
          <p:nvPr/>
        </p:nvSpPr>
        <p:spPr>
          <a:xfrm>
            <a:off x="0" y="1437701"/>
            <a:ext cx="8173725" cy="77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chemeClr val="accent5">
                    <a:lumMod val="50000"/>
                  </a:schemeClr>
                </a:solidFill>
                <a:latin typeface="Aptos Display"/>
                <a:cs typeface="Calibri" panose="020F0502020204030204" pitchFamily="34" charset="0"/>
              </a:rPr>
              <a:t>Spline Interpolation DSP ASIC </a:t>
            </a:r>
            <a:endParaRPr lang="he-IL" sz="4400" dirty="0">
              <a:solidFill>
                <a:schemeClr val="accent5">
                  <a:lumMod val="50000"/>
                </a:schemeClr>
              </a:solidFill>
              <a:latin typeface="Aptos Display"/>
            </a:endParaRPr>
          </a:p>
        </p:txBody>
      </p:sp>
      <p:sp>
        <p:nvSpPr>
          <p:cNvPr id="12" name="Text 50"/>
          <p:cNvSpPr/>
          <p:nvPr/>
        </p:nvSpPr>
        <p:spPr>
          <a:xfrm>
            <a:off x="-699658" y="5534817"/>
            <a:ext cx="7655859" cy="384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Aviv University · Faculty of Engineering     Final Project Presentation , 2026</a:t>
            </a:r>
            <a:endParaRPr lang="en-US" sz="1400" b="1" dirty="0"/>
          </a:p>
        </p:txBody>
      </p:sp>
      <p:pic>
        <p:nvPicPr>
          <p:cNvPr id="1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" y="120188"/>
            <a:ext cx="2925420" cy="6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66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Programmable 64-QAM I/Q interpolation ASIC — from MATLAB model to routed TSMC 65 nm implementation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9647" y="1170432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521208" y="1170432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621792" y="1482807"/>
            <a:ext cx="4983480" cy="2880360"/>
          </a:xfrm>
          <a:prstGeom prst="roundRect">
            <a:avLst>
              <a:gd name="adj" fmla="val 4444"/>
            </a:avLst>
          </a:prstGeom>
          <a:noFill/>
          <a:ln w="13970">
            <a:solidFill>
              <a:srgbClr val="C5D7EC"/>
            </a:solidFill>
            <a:prstDash val="solid"/>
          </a:ln>
          <a:effectLst>
            <a:outerShdw blurRad="19050" dist="50800" dir="2700000" algn="bl" rotWithShape="0">
              <a:srgbClr val="C7D3E3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89611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9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8836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359152"/>
            <a:ext cx="44074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QAM baseband streams must be up-sampled to interface with faster DSP blocks and high-rate DACs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New samples must be generated between the original I/Q samples while preserving waveform accuracy and keeping the I and Q channels synchronized.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quality of the interpolation directly affects the reconstructed waveform and the resulting EVM.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Increasing the sample rate also introduces spectral images, which must be suppressed before the signal is delivered to the output</a:t>
            </a:r>
            <a:r>
              <a:rPr lang="en-US" sz="1400" dirty="0"/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6565392" y="1417320"/>
            <a:ext cx="4983480" cy="2880360"/>
          </a:xfrm>
          <a:prstGeom prst="roundRect">
            <a:avLst>
              <a:gd name="adj" fmla="val 4444"/>
            </a:avLst>
          </a:prstGeom>
          <a:noFill/>
          <a:ln w="13970">
            <a:solidFill>
              <a:srgbClr val="BDE5E6"/>
            </a:solidFill>
            <a:prstDash val="solid"/>
          </a:ln>
          <a:effectLst>
            <a:outerShdw blurRad="19050" dist="50800" dir="2700000" algn="bl" rotWithShape="0">
              <a:srgbClr val="C7D3E3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830568" y="16642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30568" y="18836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30568" y="2359152"/>
            <a:ext cx="44074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285750" lvl="0" indent="-285750">
              <a:spcBef>
                <a:spcPts val="800"/>
              </a:spcBef>
              <a:buFont typeface="Arial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DSP ASIC  performing Spline interpolation of 64-QAM signals </a:t>
            </a:r>
          </a:p>
          <a:p>
            <a:pPr marL="285750" lvl="0" indent="-285750">
              <a:spcBef>
                <a:spcPts val="800"/>
              </a:spcBef>
              <a:buFont typeface="Arial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Configurable L = 2, 3, 4, 5: 60 </a:t>
            </a:r>
            <a:r>
              <a:rPr lang="en-US" sz="1700" dirty="0" err="1">
                <a:solidFill>
                  <a:srgbClr val="333333"/>
                </a:solidFill>
              </a:rPr>
              <a:t>MSa</a:t>
            </a:r>
            <a:r>
              <a:rPr lang="en-US" sz="1700" dirty="0">
                <a:solidFill>
                  <a:srgbClr val="333333"/>
                </a:solidFill>
              </a:rPr>
              <a:t>/s input → 120 / 180 / 240 / 300 </a:t>
            </a:r>
            <a:r>
              <a:rPr lang="en-US" sz="1700" dirty="0" err="1">
                <a:solidFill>
                  <a:srgbClr val="333333"/>
                </a:solidFill>
              </a:rPr>
              <a:t>MSa</a:t>
            </a:r>
            <a:r>
              <a:rPr lang="en-US" sz="1700" dirty="0">
                <a:solidFill>
                  <a:srgbClr val="333333"/>
                </a:solidFill>
              </a:rPr>
              <a:t>/s output</a:t>
            </a:r>
          </a:p>
          <a:p>
            <a:pPr marL="285750" lvl="0" indent="-285750">
              <a:spcBef>
                <a:spcPts val="800"/>
              </a:spcBef>
              <a:buFont typeface="Arial"/>
              <a:buChar char="•"/>
            </a:pPr>
            <a:endParaRPr lang="en-US" sz="1700" dirty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prstClr val="black"/>
                </a:solidFill>
              </a:rPr>
              <a:t>Follow the interpolator with a programmable 10-tap FIR low-pass filter to suppress spectral images. </a:t>
            </a:r>
          </a:p>
          <a:p>
            <a:pPr lvl="0"/>
            <a:endParaRPr lang="en-US" sz="1700" dirty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Implemented in TSMC 65 nm  through the complete RTL-to-GDSII flow</a:t>
            </a:r>
            <a:endParaRPr lang="en-US" sz="1700" dirty="0">
              <a:solidFill>
                <a:prstClr val="black"/>
              </a:solidFill>
            </a:endParaRPr>
          </a:p>
          <a:p>
            <a:r>
              <a:rPr lang="en-US" sz="12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5705856" y="2231136"/>
            <a:ext cx="758952" cy="960120"/>
          </a:xfrm>
          <a:prstGeom prst="chevron">
            <a:avLst/>
          </a:prstGeom>
          <a:solidFill>
            <a:srgbClr val="0A2E5C"/>
          </a:solidFill>
          <a:ln w="12700">
            <a:solidFill>
              <a:srgbClr val="0A2E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5559552" y="3227832"/>
            <a:ext cx="969264" cy="548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526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66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signal-processing 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72968" y="4645152"/>
            <a:ext cx="8375904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713232" y="4873752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3335">
            <a:solidFill>
              <a:srgbClr val="C5D7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822960" y="497433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64-QAM I/Q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822960" y="522122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A53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MSa/s input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108960" y="5230368"/>
            <a:ext cx="384048" cy="0"/>
          </a:xfrm>
          <a:prstGeom prst="line">
            <a:avLst/>
          </a:prstGeom>
          <a:noFill/>
          <a:ln w="25400">
            <a:solidFill>
              <a:srgbClr val="0A2E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3547872" y="4873752"/>
            <a:ext cx="2331720" cy="713232"/>
          </a:xfrm>
          <a:prstGeom prst="roundRect">
            <a:avLst>
              <a:gd name="adj" fmla="val 12821"/>
            </a:avLst>
          </a:prstGeom>
          <a:noFill/>
          <a:ln w="13335">
            <a:solidFill>
              <a:srgbClr val="A7C9E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3657600" y="497433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Spline 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3657600" y="522122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A53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943600" y="5230368"/>
            <a:ext cx="384048" cy="0"/>
          </a:xfrm>
          <a:prstGeom prst="line">
            <a:avLst/>
          </a:prstGeom>
          <a:noFill/>
          <a:ln w="25400">
            <a:solidFill>
              <a:srgbClr val="0A2E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6382512" y="4873752"/>
            <a:ext cx="2331720" cy="713232"/>
          </a:xfrm>
          <a:prstGeom prst="roundRect">
            <a:avLst>
              <a:gd name="adj" fmla="val 12821"/>
            </a:avLst>
          </a:prstGeom>
          <a:noFill/>
          <a:ln w="13335">
            <a:solidFill>
              <a:srgbClr val="A4DCD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6492240" y="497433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FIR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6492240" y="522122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A53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suppression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778240" y="5230368"/>
            <a:ext cx="384048" cy="0"/>
          </a:xfrm>
          <a:prstGeom prst="line">
            <a:avLst/>
          </a:prstGeom>
          <a:noFill/>
          <a:ln w="25400">
            <a:solidFill>
              <a:srgbClr val="0A2E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217152" y="4873752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3335">
            <a:solidFill>
              <a:srgbClr val="C5D7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9326880" y="497433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High-rate I/Q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9326880" y="522122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A53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120–300 MSa/s output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65360" y="5913210"/>
            <a:ext cx="10908792" cy="402336"/>
          </a:xfrm>
          <a:prstGeom prst="roundRect">
            <a:avLst>
              <a:gd name="adj" fmla="val 20455"/>
            </a:avLst>
          </a:prstGeom>
          <a:solidFill>
            <a:srgbClr val="0A2E5C"/>
          </a:solidFill>
          <a:ln w="12700">
            <a:solidFill>
              <a:srgbClr val="0A2E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822960" y="6047912"/>
            <a:ext cx="10469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real-time, low-EVM, synchronized I/Q interpolation with full RTL-to-layout validation.</a:t>
            </a:r>
            <a:endParaRPr lang="en-US" sz="1320" dirty="0"/>
          </a:p>
        </p:txBody>
      </p:sp>
      <p:pic>
        <p:nvPicPr>
          <p:cNvPr id="37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288" y="32781"/>
            <a:ext cx="2925420" cy="6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9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3</a:t>
            </a:fld>
            <a:endParaRPr lang="en-US"/>
          </a:p>
        </p:txBody>
      </p:sp>
      <p:sp>
        <p:nvSpPr>
          <p:cNvPr id="8" name="Text 2"/>
          <p:cNvSpPr/>
          <p:nvPr/>
        </p:nvSpPr>
        <p:spPr>
          <a:xfrm>
            <a:off x="685800" y="335097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Requirements &amp; Deliverables</a:t>
            </a:r>
            <a:endParaRPr lang="en-US" sz="3000" dirty="0"/>
          </a:p>
        </p:txBody>
      </p:sp>
      <p:sp>
        <p:nvSpPr>
          <p:cNvPr id="9" name="Text 3"/>
          <p:cNvSpPr/>
          <p:nvPr/>
        </p:nvSpPr>
        <p:spPr>
          <a:xfrm>
            <a:off x="685800" y="813816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46A"/>
                </a:solidFill>
              </a:rPr>
              <a:t>What the ASIC had to achieve — and what was delivered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1143000" y="1289939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A55"/>
                </a:solidFill>
              </a:rPr>
              <a:t>64-QAM I/Q  •  60 MSa/s input  •  Programmable L = 2,3,4,5  •  TSMC 65 nm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60120" y="5688203"/>
            <a:ext cx="10287000" cy="420624"/>
          </a:xfrm>
          <a:prstGeom prst="rect">
            <a:avLst/>
          </a:prstGeom>
          <a:solidFill>
            <a:srgbClr val="0B2A55"/>
          </a:solidFill>
          <a:ln w="10160">
            <a:solidFill>
              <a:srgbClr val="0B2A5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objective: deliver a verified, programmable spline-interpolation ASIC from MATLAB algorithm to routed 65 nm implementation.</a:t>
            </a:r>
            <a:endParaRPr lang="en-US" sz="1400" dirty="0"/>
          </a:p>
        </p:txBody>
      </p:sp>
      <p:pic>
        <p:nvPicPr>
          <p:cNvPr id="1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580" y="111529"/>
            <a:ext cx="2925420" cy="666735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838200" y="1793494"/>
            <a:ext cx="4983480" cy="3628263"/>
          </a:xfrm>
          <a:prstGeom prst="roundRect">
            <a:avLst>
              <a:gd name="adj" fmla="val 4444"/>
            </a:avLst>
          </a:prstGeom>
          <a:noFill/>
          <a:ln w="13970">
            <a:solidFill>
              <a:srgbClr val="C5D7EC"/>
            </a:solidFill>
            <a:prstDash val="solid"/>
          </a:ln>
          <a:effectLst>
            <a:outerShdw blurRad="19050" dist="50800" dir="2700000" algn="bl" rotWithShape="0">
              <a:srgbClr val="C7D3E3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b="1" dirty="0">
                <a:solidFill>
                  <a:srgbClr val="0A2E5C"/>
                </a:solidFill>
              </a:rPr>
              <a:t>Quantitative targets </a:t>
            </a:r>
          </a:p>
          <a:p>
            <a:pPr lvl="0"/>
            <a:endParaRPr lang="en-US" b="1" dirty="0">
              <a:solidFill>
                <a:srgbClr val="0A2E5C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EVM &lt; 350 </a:t>
            </a:r>
            <a:r>
              <a:rPr lang="en-US" sz="2000" dirty="0" err="1">
                <a:solidFill>
                  <a:prstClr val="black"/>
                </a:solidFill>
              </a:rPr>
              <a:t>m%rms</a:t>
            </a:r>
            <a:r>
              <a:rPr lang="en-US" sz="2000" dirty="0">
                <a:solidFill>
                  <a:prstClr val="black"/>
                </a:solidFill>
              </a:rPr>
              <a:t> (64-QAM signal-quality target 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Output rates: 120–300 </a:t>
            </a:r>
            <a:r>
              <a:rPr lang="en-US" sz="2000" dirty="0" err="1">
                <a:solidFill>
                  <a:prstClr val="black"/>
                </a:solidFill>
              </a:rPr>
              <a:t>MSa</a:t>
            </a:r>
            <a:r>
              <a:rPr lang="en-US" sz="2000" dirty="0">
                <a:solidFill>
                  <a:prstClr val="black"/>
                </a:solidFill>
              </a:rPr>
              <a:t>/s for L = 2,3,4,5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ASIC operating frequency ≥ 100 MHz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ASIC core area ≤ 0.4 mm²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Post-layout timing closure — non-negative setup and hold slack after routing and parasitic extraction.</a:t>
            </a:r>
          </a:p>
        </p:txBody>
      </p:sp>
      <p:sp>
        <p:nvSpPr>
          <p:cNvPr id="17" name="Shape 6"/>
          <p:cNvSpPr/>
          <p:nvPr/>
        </p:nvSpPr>
        <p:spPr>
          <a:xfrm>
            <a:off x="6370320" y="1793493"/>
            <a:ext cx="4983480" cy="3628263"/>
          </a:xfrm>
          <a:prstGeom prst="roundRect">
            <a:avLst>
              <a:gd name="adj" fmla="val 4444"/>
            </a:avLst>
          </a:prstGeom>
          <a:noFill/>
          <a:ln w="13970">
            <a:solidFill>
              <a:srgbClr val="C5D7EC"/>
            </a:solidFill>
            <a:prstDash val="solid"/>
          </a:ln>
          <a:effectLst>
            <a:outerShdw blurRad="19050" dist="50800" dir="2700000" algn="bl" rotWithShape="0">
              <a:srgbClr val="C7D3E3">
                <a:alpha val="12000"/>
              </a:srgbClr>
            </a:outerShdw>
          </a:effectLst>
        </p:spPr>
        <p:txBody>
          <a:bodyPr/>
          <a:lstStyle/>
          <a:p>
            <a:r>
              <a:rPr lang="en-US" sz="2400" b="1" dirty="0">
                <a:solidFill>
                  <a:srgbClr val="0B2A55"/>
                </a:solidFill>
              </a:rPr>
              <a:t>Project Deliverables</a:t>
            </a:r>
          </a:p>
          <a:p>
            <a:endParaRPr lang="en-US" sz="2400" b="1" dirty="0">
              <a:solidFill>
                <a:srgbClr val="0B2A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MATLAB floating- and fixed-point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Synthesizable RTL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Synthesized gate-level netlist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Final routed ASIC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GDSII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Signoff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repository &amp; documentation</a:t>
            </a:r>
          </a:p>
        </p:txBody>
      </p:sp>
      <p:sp>
        <p:nvSpPr>
          <p:cNvPr id="18" name="Shape 4"/>
          <p:cNvSpPr/>
          <p:nvPr/>
        </p:nvSpPr>
        <p:spPr>
          <a:xfrm>
            <a:off x="459647" y="1170432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5"/>
          <p:cNvSpPr/>
          <p:nvPr/>
        </p:nvSpPr>
        <p:spPr>
          <a:xfrm>
            <a:off x="459647" y="1170432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140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580" y="0"/>
            <a:ext cx="2925420" cy="666735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-671495" y="125288"/>
            <a:ext cx="4698402" cy="76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2E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Flow</a:t>
            </a:r>
            <a:endParaRPr lang="en-US" sz="3000" b="1" dirty="0">
              <a:solidFill>
                <a:srgbClr val="0A2E5C"/>
              </a:solidFill>
            </a:endParaRPr>
          </a:p>
        </p:txBody>
      </p:sp>
      <p:sp>
        <p:nvSpPr>
          <p:cNvPr id="17" name="Text 3"/>
          <p:cNvSpPr/>
          <p:nvPr/>
        </p:nvSpPr>
        <p:spPr>
          <a:xfrm>
            <a:off x="244249" y="734748"/>
            <a:ext cx="7565316" cy="34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566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was developed through a complete algorithm-to-layout ASIC flow in TSMC 65 nm.</a:t>
            </a:r>
            <a:endParaRPr lang="en-US" sz="1350" dirty="0"/>
          </a:p>
        </p:txBody>
      </p:sp>
      <p:sp>
        <p:nvSpPr>
          <p:cNvPr id="18" name="Shape 4"/>
          <p:cNvSpPr/>
          <p:nvPr/>
        </p:nvSpPr>
        <p:spPr>
          <a:xfrm>
            <a:off x="459647" y="1170432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5"/>
          <p:cNvSpPr/>
          <p:nvPr/>
        </p:nvSpPr>
        <p:spPr>
          <a:xfrm>
            <a:off x="459647" y="1170432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מלבן 20"/>
          <p:cNvSpPr/>
          <p:nvPr/>
        </p:nvSpPr>
        <p:spPr>
          <a:xfrm>
            <a:off x="676593" y="198391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MATLAB Model:</a:t>
            </a:r>
            <a:r>
              <a:rPr lang="en-US" sz="1600" dirty="0"/>
              <a:t> algorithm development, floating-/fixed-point modeling, FIR design, and signal-quality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Architecture:</a:t>
            </a:r>
            <a:r>
              <a:rPr lang="en-US" sz="1600" dirty="0"/>
              <a:t> programmable I/Q RTL </a:t>
            </a:r>
            <a:r>
              <a:rPr lang="en-US" sz="1600" dirty="0" err="1"/>
              <a:t>datapaths</a:t>
            </a:r>
            <a:r>
              <a:rPr lang="en-US" sz="1600" dirty="0"/>
              <a:t> with shared control and multi-rate operation.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Verification:</a:t>
            </a:r>
            <a:r>
              <a:rPr lang="en-US" sz="1600" dirty="0"/>
              <a:t> simulation, MATLAB golden comparison, SVA, formal verification, and LEC.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Synthesis:</a:t>
            </a:r>
            <a:r>
              <a:rPr lang="en-US" sz="1600" dirty="0"/>
              <a:t> timing constraints, multicycle paths, clock gating, and gate-level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Physical Design:</a:t>
            </a:r>
            <a:r>
              <a:rPr lang="en-US" sz="1600" dirty="0"/>
              <a:t> floorplan, power grid, placement, CTS, routing, ECO, and extraction.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Signoff:</a:t>
            </a:r>
            <a:r>
              <a:rPr lang="en-US" sz="1600" dirty="0"/>
              <a:t> post-layout STA, power, GLS, DRC/LVS, and final implementation checks. </a:t>
            </a:r>
          </a:p>
          <a:p>
            <a:pPr>
              <a:lnSpc>
                <a:spcPct val="150000"/>
              </a:lnSpc>
            </a:pPr>
            <a:endParaRPr lang="he-IL" sz="1600" dirty="0"/>
          </a:p>
        </p:txBody>
      </p:sp>
      <p:sp>
        <p:nvSpPr>
          <p:cNvPr id="11" name="Shape 6"/>
          <p:cNvSpPr/>
          <p:nvPr/>
        </p:nvSpPr>
        <p:spPr>
          <a:xfrm>
            <a:off x="561267" y="1708086"/>
            <a:ext cx="6040265" cy="3917423"/>
          </a:xfrm>
          <a:prstGeom prst="roundRect">
            <a:avLst>
              <a:gd name="adj" fmla="val 4444"/>
            </a:avLst>
          </a:prstGeom>
          <a:noFill/>
          <a:ln w="13970">
            <a:solidFill>
              <a:srgbClr val="C5D7EC"/>
            </a:solidFill>
            <a:prstDash val="solid"/>
          </a:ln>
          <a:effectLst>
            <a:outerShdw blurRad="19050" dist="50800" dir="2700000" algn="bl" rotWithShape="0">
              <a:srgbClr val="C7D3E3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9AA85-60E8-9FDC-61FF-373D27A7B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171" y="1391031"/>
            <a:ext cx="4030049" cy="47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9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5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98048" y="1519677"/>
            <a:ext cx="4709160" cy="292608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l">
              <a:defRPr sz="1800" b="1">
                <a:solidFill>
                  <a:srgbClr val="08274E"/>
                </a:solidFill>
                <a:latin typeface="Aptos"/>
              </a:defRPr>
            </a:pPr>
            <a:r>
              <a:rPr dirty="0"/>
              <a:t>MINAJ2 cubic interpolation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308287"/>
            <a:ext cx="4572000" cy="223138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ctr">
              <a:defRPr sz="850" b="0">
                <a:solidFill>
                  <a:srgbClr val="5F6773"/>
                </a:solidFill>
                <a:latin typeface="Aptos"/>
              </a:defRPr>
            </a:pPr>
            <a:r>
              <a:rPr dirty="0"/>
              <a:t>x[n−1]   </a:t>
            </a:r>
            <a:r>
              <a:rPr lang="he-IL" dirty="0"/>
              <a:t>                                       </a:t>
            </a:r>
            <a:r>
              <a:rPr dirty="0"/>
              <a:t>           x[n]          </a:t>
            </a:r>
            <a:r>
              <a:rPr lang="he-IL" dirty="0"/>
              <a:t>                          </a:t>
            </a:r>
            <a:r>
              <a:rPr dirty="0"/>
              <a:t>   </a:t>
            </a:r>
            <a:r>
              <a:rPr lang="he-IL" dirty="0"/>
              <a:t>        </a:t>
            </a:r>
            <a:r>
              <a:rPr dirty="0"/>
              <a:t> x[n+1]</a:t>
            </a:r>
          </a:p>
        </p:txBody>
      </p:sp>
      <p:sp>
        <p:nvSpPr>
          <p:cNvPr id="45" name="Rectangle 13"/>
          <p:cNvSpPr/>
          <p:nvPr/>
        </p:nvSpPr>
        <p:spPr>
          <a:xfrm>
            <a:off x="1247688" y="3699940"/>
            <a:ext cx="3520440" cy="22860"/>
          </a:xfrm>
          <a:prstGeom prst="rect">
            <a:avLst/>
          </a:prstGeom>
          <a:solidFill>
            <a:srgbClr val="82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14"/>
          <p:cNvSpPr/>
          <p:nvPr/>
        </p:nvSpPr>
        <p:spPr>
          <a:xfrm>
            <a:off x="1192824" y="3635931"/>
            <a:ext cx="128016" cy="128016"/>
          </a:xfrm>
          <a:prstGeom prst="ellipse">
            <a:avLst/>
          </a:prstGeom>
          <a:solidFill>
            <a:srgbClr val="08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15"/>
          <p:cNvSpPr/>
          <p:nvPr/>
        </p:nvSpPr>
        <p:spPr>
          <a:xfrm>
            <a:off x="2930184" y="3635931"/>
            <a:ext cx="128016" cy="128016"/>
          </a:xfrm>
          <a:prstGeom prst="ellipse">
            <a:avLst/>
          </a:prstGeom>
          <a:solidFill>
            <a:srgbClr val="08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16"/>
          <p:cNvSpPr/>
          <p:nvPr/>
        </p:nvSpPr>
        <p:spPr>
          <a:xfrm>
            <a:off x="4713264" y="3635931"/>
            <a:ext cx="128016" cy="128016"/>
          </a:xfrm>
          <a:prstGeom prst="ellipse">
            <a:avLst/>
          </a:prstGeom>
          <a:solidFill>
            <a:srgbClr val="08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17"/>
          <p:cNvSpPr/>
          <p:nvPr/>
        </p:nvSpPr>
        <p:spPr>
          <a:xfrm>
            <a:off x="1714032" y="3663364"/>
            <a:ext cx="73152" cy="73152"/>
          </a:xfrm>
          <a:prstGeom prst="ellipse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18"/>
          <p:cNvSpPr/>
          <p:nvPr/>
        </p:nvSpPr>
        <p:spPr>
          <a:xfrm>
            <a:off x="2216952" y="3663364"/>
            <a:ext cx="73152" cy="73152"/>
          </a:xfrm>
          <a:prstGeom prst="ellipse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19"/>
          <p:cNvSpPr/>
          <p:nvPr/>
        </p:nvSpPr>
        <p:spPr>
          <a:xfrm>
            <a:off x="3451392" y="3663364"/>
            <a:ext cx="73152" cy="73152"/>
          </a:xfrm>
          <a:prstGeom prst="ellipse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20"/>
          <p:cNvSpPr/>
          <p:nvPr/>
        </p:nvSpPr>
        <p:spPr>
          <a:xfrm>
            <a:off x="3954312" y="3663364"/>
            <a:ext cx="73152" cy="73152"/>
          </a:xfrm>
          <a:prstGeom prst="ellipse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2127" y="4049220"/>
            <a:ext cx="2115781" cy="238527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ctr">
              <a:defRPr sz="950" b="0">
                <a:solidFill>
                  <a:srgbClr val="5F6773"/>
                </a:solidFill>
                <a:latin typeface="Aptos"/>
              </a:defRPr>
            </a:pPr>
            <a:r>
              <a:rPr dirty="0"/>
              <a:t>generated samples at phases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le 22"/>
              <p:cNvSpPr/>
              <p:nvPr/>
            </p:nvSpPr>
            <p:spPr>
              <a:xfrm>
                <a:off x="832487" y="4831792"/>
                <a:ext cx="4434840" cy="457200"/>
              </a:xfrm>
              <a:prstGeom prst="roundRect">
                <a:avLst/>
              </a:prstGeom>
              <a:solidFill>
                <a:srgbClr val="F5F8FA"/>
              </a:solidFill>
              <a:ln w="10160">
                <a:solidFill>
                  <a:srgbClr val="D2DC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400" i="1">
                          <a:solidFill>
                            <a:srgbClr val="0A2E5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solidFill>
                                    <a:srgbClr val="0A2E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solidFill>
                                <a:srgbClr val="0A2E5C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sz="1400" dirty="0"/>
              </a:p>
            </p:txBody>
          </p:sp>
        </mc:Choice>
        <mc:Fallback xmlns="">
          <p:sp>
            <p:nvSpPr>
              <p:cNvPr id="54" name="Rounded 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7" y="4831792"/>
                <a:ext cx="4434840" cy="457200"/>
              </a:xfrm>
              <a:prstGeom prst="roundRect">
                <a:avLst/>
              </a:prstGeom>
              <a:blipFill>
                <a:blip r:embed="rId2"/>
                <a:stretch>
                  <a:fillRect b="-3896"/>
                </a:stretch>
              </a:blipFill>
              <a:ln w="10160">
                <a:solidFill>
                  <a:srgbClr val="D2DCE6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6467328" y="1519677"/>
            <a:ext cx="4572000" cy="292608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l">
              <a:defRPr sz="1800" b="1">
                <a:solidFill>
                  <a:srgbClr val="08274E"/>
                </a:solidFill>
                <a:latin typeface="Aptos"/>
              </a:defRPr>
            </a:pPr>
            <a:r>
              <a:t>Hardware-compatible MATLAB 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4488" y="1976877"/>
            <a:ext cx="4206240" cy="25603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ctr">
              <a:defRPr sz="1200" b="1">
                <a:solidFill>
                  <a:srgbClr val="232830"/>
                </a:solidFill>
                <a:latin typeface="Aptos"/>
              </a:defRPr>
            </a:pPr>
            <a:r>
              <a:t>Floating-point model  →  Fixed-point model  →  RTL golden vectors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6632" y="4094888"/>
            <a:ext cx="4480560" cy="2286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l">
              <a:defRPr sz="1400" b="1">
                <a:solidFill>
                  <a:srgbClr val="08274E"/>
                </a:solidFill>
                <a:latin typeface="Aptos"/>
              </a:defRPr>
            </a:pPr>
            <a:r>
              <a:rPr dirty="0"/>
              <a:t>FIR coefficient selection</a:t>
            </a:r>
          </a:p>
        </p:txBody>
      </p:sp>
      <p:sp>
        <p:nvSpPr>
          <p:cNvPr id="67" name="Rounded Rectangle 35"/>
          <p:cNvSpPr/>
          <p:nvPr/>
        </p:nvSpPr>
        <p:spPr>
          <a:xfrm>
            <a:off x="685800" y="5838082"/>
            <a:ext cx="10828020" cy="537070"/>
          </a:xfrm>
          <a:prstGeom prst="roundRect">
            <a:avLst/>
          </a:prstGeom>
          <a:solidFill>
            <a:srgbClr val="08274E"/>
          </a:solidFill>
          <a:ln>
            <a:solidFill>
              <a:srgbClr val="08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0411" y="5874685"/>
            <a:ext cx="10287000" cy="461665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 algn="ctr">
              <a:defRPr sz="1120" b="1">
                <a:solidFill>
                  <a:srgbClr val="FFFFFF"/>
                </a:solidFill>
                <a:latin typeface="Aptos"/>
              </a:defRPr>
            </a:pPr>
            <a:r>
              <a:rPr lang="he-IL" sz="1200" b="1" dirty="0">
                <a:solidFill>
                  <a:srgbClr val="FFFFFF"/>
                </a:solidFill>
                <a:latin typeface="Aptos"/>
              </a:rPr>
              <a:t>MINAJ2 was selected for cubic-quality interpolation with a local, streaming-friendly hardware implementation, while MATLAB firpm was chosen to obtain an optimal equiripple </a:t>
            </a:r>
            <a:r>
              <a:rPr lang="en-US" sz="1200" b="1" dirty="0">
                <a:solidFill>
                  <a:srgbClr val="FFFFFF"/>
                </a:solidFill>
                <a:latin typeface="Aptos"/>
              </a:rPr>
              <a:t>10</a:t>
            </a:r>
            <a:r>
              <a:rPr lang="he-IL" sz="1200" b="1" dirty="0">
                <a:solidFill>
                  <a:srgbClr val="FFFFFF"/>
                </a:solidFill>
                <a:latin typeface="Aptos"/>
              </a:rPr>
              <a:t>-tap FIR response that suppresses interpolation images with low hardware cost.</a:t>
            </a:r>
            <a:endParaRPr sz="1200" dirty="0"/>
          </a:p>
        </p:txBody>
      </p:sp>
      <p:pic>
        <p:nvPicPr>
          <p:cNvPr id="69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486" y="0"/>
            <a:ext cx="2554514" cy="582201"/>
          </a:xfrm>
          <a:prstGeom prst="rect">
            <a:avLst/>
          </a:prstGeom>
        </p:spPr>
      </p:pic>
      <p:sp>
        <p:nvSpPr>
          <p:cNvPr id="70" name="Text 2"/>
          <p:cNvSpPr/>
          <p:nvPr/>
        </p:nvSpPr>
        <p:spPr>
          <a:xfrm>
            <a:off x="411771" y="194351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MATLAB Model Development &amp; Algorithm Selection</a:t>
            </a:r>
            <a:endParaRPr lang="en-US" sz="2400" b="1" dirty="0"/>
          </a:p>
        </p:txBody>
      </p:sp>
      <p:sp>
        <p:nvSpPr>
          <p:cNvPr id="71" name="Shape 4"/>
          <p:cNvSpPr/>
          <p:nvPr/>
        </p:nvSpPr>
        <p:spPr>
          <a:xfrm>
            <a:off x="358140" y="851865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2" name="Shape 5"/>
          <p:cNvSpPr/>
          <p:nvPr/>
        </p:nvSpPr>
        <p:spPr>
          <a:xfrm>
            <a:off x="437219" y="851865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4" name="TextBox 73"/>
          <p:cNvSpPr txBox="1"/>
          <p:nvPr/>
        </p:nvSpPr>
        <p:spPr>
          <a:xfrm>
            <a:off x="522448" y="992667"/>
            <a:ext cx="1045035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MATLAB was used to validate the algorithm, convert it to fixed-point arithmetic, tune the FIR coefficients, and create the RTL golden reference.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מלבן 74"/>
              <p:cNvSpPr/>
              <p:nvPr/>
            </p:nvSpPr>
            <p:spPr>
              <a:xfrm>
                <a:off x="2801085" y="3954045"/>
                <a:ext cx="1650195" cy="3543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9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9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מלבן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085" y="3954045"/>
                <a:ext cx="1650195" cy="3543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מלבן 75"/>
              <p:cNvSpPr/>
              <p:nvPr/>
            </p:nvSpPr>
            <p:spPr>
              <a:xfrm>
                <a:off x="592223" y="4454907"/>
                <a:ext cx="4891851" cy="2684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he-IL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he-IL" sz="11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1100" i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d>
                        <m:d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he-IL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e-IL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sz="11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1100" i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d>
                        <m:d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he-IL" sz="11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he-IL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he-IL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sz="11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1100" i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sSub>
                        <m:sSubPr>
                          <m:ctrlPr>
                            <a:rPr lang="he-IL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1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he-IL" sz="1100" i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76" name="מלבן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23" y="4454907"/>
                <a:ext cx="4891851" cy="2684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46242"/>
              </p:ext>
            </p:extLst>
          </p:nvPr>
        </p:nvGraphicFramePr>
        <p:xfrm>
          <a:off x="6783792" y="2485386"/>
          <a:ext cx="4343400" cy="1537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449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Quantity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Format / Value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44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lang="en-US" sz="1200" dirty="0" smtClean="0"/>
                        <a:t>Word</a:t>
                      </a:r>
                      <a:r>
                        <a:rPr lang="en-US" sz="1200" baseline="0" dirty="0" smtClean="0"/>
                        <a:t> bits</a:t>
                      </a:r>
                      <a:endParaRPr sz="1200" dirty="0"/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 smtClean="0"/>
                        <a:t>16</a:t>
                      </a:r>
                      <a:endParaRPr sz="1200" dirty="0"/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4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Fractional bits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12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44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Phase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Q1.15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44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FIR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232830"/>
                          </a:solidFill>
                          <a:latin typeface="Aptos"/>
                        </a:defRPr>
                      </a:pPr>
                      <a:r>
                        <a:rPr sz="1200" dirty="0"/>
                        <a:t>10 taps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מלבן 3"/>
          <p:cNvSpPr/>
          <p:nvPr/>
        </p:nvSpPr>
        <p:spPr>
          <a:xfrm>
            <a:off x="737813" y="2027004"/>
            <a:ext cx="42405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Local cubic method using three neighboring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Uses previous slope and calculates a new slope.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Generates L samples for each input interval.</a:t>
            </a:r>
          </a:p>
        </p:txBody>
      </p:sp>
      <p:sp>
        <p:nvSpPr>
          <p:cNvPr id="56" name="מלבן 55"/>
          <p:cNvSpPr/>
          <p:nvPr/>
        </p:nvSpPr>
        <p:spPr>
          <a:xfrm>
            <a:off x="6467328" y="4433087"/>
            <a:ext cx="46598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10-taps low-pass FIR designed using MATLAB </a:t>
            </a:r>
            <a:r>
              <a:rPr lang="en-US" sz="1200" dirty="0" err="1"/>
              <a:t>firpm</a:t>
            </a:r>
            <a:r>
              <a:rPr lang="en-US" sz="1200" dirty="0"/>
              <a:t> for low-cost </a:t>
            </a:r>
            <a:r>
              <a:rPr lang="en-US" sz="1200" dirty="0" err="1"/>
              <a:t>equiripple</a:t>
            </a:r>
            <a:r>
              <a:rPr lang="en-US" sz="1200" dirty="0"/>
              <a:t> filtering.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Coefficients optimized for each interpolation factor to preserve the 20 MHz band and suppress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Coefficients quantized to signed Q3.12 and validated using EVM, spectrum, and constellation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645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  <p:sp>
        <p:nvSpPr>
          <p:cNvPr id="4" name="eyebrow"/>
          <p:cNvSpPr/>
          <p:nvPr/>
        </p:nvSpPr>
        <p:spPr>
          <a:xfrm>
            <a:off x="566928" y="360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MATLAB - Anti-Imaging Filter  </a:t>
            </a:r>
            <a:r>
              <a:rPr lang="en-US" sz="1400" b="1" kern="0" spc="200" dirty="0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(m</a:t>
            </a:r>
            <a:r>
              <a:rPr lang="en-US" sz="1200" b="1" kern="0" spc="200" dirty="0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easured on </a:t>
            </a:r>
            <a:r>
              <a:rPr lang="en-US" sz="1200" b="1" kern="0" spc="200" dirty="0" err="1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Keysight</a:t>
            </a:r>
            <a:r>
              <a:rPr lang="en-US" sz="1200" b="1" kern="0" spc="200" dirty="0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 VSA</a:t>
            </a:r>
            <a:r>
              <a:rPr lang="en-US" sz="1400" b="1" kern="0" spc="200" dirty="0">
                <a:solidFill>
                  <a:srgbClr val="0A2E5C"/>
                </a:solidFill>
                <a:latin typeface="Aptos Display"/>
                <a:ea typeface="Aptos Display"/>
                <a:cs typeface="Arial" pitchFamily="34" charset="-120"/>
              </a:rPr>
              <a:t>)</a:t>
            </a:r>
          </a:p>
        </p:txBody>
      </p:sp>
      <p:sp>
        <p:nvSpPr>
          <p:cNvPr id="5" name="subtitle"/>
          <p:cNvSpPr/>
          <p:nvPr/>
        </p:nvSpPr>
        <p:spPr>
          <a:xfrm>
            <a:off x="566928" y="778386"/>
            <a:ext cx="7437589" cy="45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E2148"/>
                </a:solidFill>
                <a:cs typeface="Arial" pitchFamily="34" charset="-120"/>
              </a:rPr>
              <a:t>Same clean QAM-64 — but the FIR erases the image replicas</a:t>
            </a:r>
          </a:p>
        </p:txBody>
      </p:sp>
      <p:sp>
        <p:nvSpPr>
          <p:cNvPr id="6" name="cardL"/>
          <p:cNvSpPr/>
          <p:nvPr/>
        </p:nvSpPr>
        <p:spPr>
          <a:xfrm>
            <a:off x="4226583" y="1381909"/>
            <a:ext cx="3739813" cy="2804518"/>
          </a:xfrm>
          <a:prstGeom prst="roundRect">
            <a:avLst>
              <a:gd name="adj" fmla="val 3200"/>
            </a:avLst>
          </a:prstGeom>
          <a:noFill/>
          <a:ln w="12700">
            <a:solidFill>
              <a:srgbClr val="B553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cardL-hdr"/>
          <p:cNvSpPr/>
          <p:nvPr/>
        </p:nvSpPr>
        <p:spPr>
          <a:xfrm>
            <a:off x="4521563" y="1491159"/>
            <a:ext cx="3331966" cy="272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532A"/>
                </a:solidFill>
                <a:latin typeface="Arial" pitchFamily="34" charset="0"/>
                <a:cs typeface="Arial" pitchFamily="34" charset="-120"/>
              </a:rPr>
              <a:t>FILTER OFF — image replicas remain</a:t>
            </a:r>
          </a:p>
        </p:txBody>
      </p:sp>
      <p:pic>
        <p:nvPicPr>
          <p:cNvPr id="8" name="imgL" descr="VSA filter o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325" y="1889903"/>
            <a:ext cx="3454203" cy="1652047"/>
          </a:xfrm>
          <a:prstGeom prst="rect">
            <a:avLst/>
          </a:prstGeom>
        </p:spPr>
      </p:pic>
      <p:sp>
        <p:nvSpPr>
          <p:cNvPr id="9" name="cardL-cap"/>
          <p:cNvSpPr/>
          <p:nvPr/>
        </p:nvSpPr>
        <p:spPr>
          <a:xfrm>
            <a:off x="4424087" y="3624998"/>
            <a:ext cx="3245257" cy="3586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</a:rPr>
              <a:t>Spectrum shows the main band plus two side replicas — the images upsampling creates. EVM 91 </a:t>
            </a:r>
            <a:r>
              <a:rPr lang="en-US" sz="1100" dirty="0" err="1">
                <a:solidFill>
                  <a:srgbClr val="16233B"/>
                </a:solidFill>
                <a:latin typeface="Calibri" pitchFamily="34" charset="0"/>
              </a:rPr>
              <a:t>m%rms</a:t>
            </a:r>
            <a:r>
              <a:rPr lang="en-US" sz="1100" dirty="0">
                <a:solidFill>
                  <a:srgbClr val="16233B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0" name="cardR"/>
          <p:cNvSpPr/>
          <p:nvPr/>
        </p:nvSpPr>
        <p:spPr>
          <a:xfrm>
            <a:off x="8143530" y="1381909"/>
            <a:ext cx="3579078" cy="2804518"/>
          </a:xfrm>
          <a:prstGeom prst="roundRect">
            <a:avLst>
              <a:gd name="adj" fmla="val 3200"/>
            </a:avLst>
          </a:prstGeom>
          <a:solidFill>
            <a:srgbClr val="EAF3F6"/>
          </a:solidFill>
          <a:ln w="12700">
            <a:solidFill>
              <a:srgbClr val="0A7C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R-hdr"/>
          <p:cNvSpPr/>
          <p:nvPr/>
        </p:nvSpPr>
        <p:spPr>
          <a:xfrm>
            <a:off x="8575346" y="1517962"/>
            <a:ext cx="2715442" cy="2192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C8A"/>
                </a:solidFill>
                <a:latin typeface="Arial" pitchFamily="34" charset="0"/>
                <a:cs typeface="Arial" pitchFamily="34" charset="-120"/>
              </a:rPr>
              <a:t>FILTER ON — replicas rejected</a:t>
            </a:r>
          </a:p>
        </p:txBody>
      </p:sp>
      <p:pic>
        <p:nvPicPr>
          <p:cNvPr id="12" name="imgR" descr="VSA filter 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217" y="2018339"/>
            <a:ext cx="3117196" cy="1574840"/>
          </a:xfrm>
          <a:prstGeom prst="rect">
            <a:avLst/>
          </a:prstGeom>
        </p:spPr>
      </p:pic>
      <p:sp>
        <p:nvSpPr>
          <p:cNvPr id="13" name="cardR-cap"/>
          <p:cNvSpPr/>
          <p:nvPr/>
        </p:nvSpPr>
        <p:spPr>
          <a:xfrm>
            <a:off x="8398217" y="3720493"/>
            <a:ext cx="3069699" cy="43460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</a:rPr>
              <a:t>The 10-tap FIRPM filter suppresses both side lobes — only the wanted band is left. EVM 98 </a:t>
            </a:r>
            <a:r>
              <a:rPr lang="en-US" sz="1100" dirty="0" err="1">
                <a:solidFill>
                  <a:srgbClr val="16233B"/>
                </a:solidFill>
                <a:latin typeface="Calibri" pitchFamily="34" charset="0"/>
              </a:rPr>
              <a:t>m%rms</a:t>
            </a:r>
            <a:r>
              <a:rPr lang="en-US" sz="1100" dirty="0">
                <a:solidFill>
                  <a:srgbClr val="16233B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16" name="tau_logo" descr="TA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000" y="94350"/>
            <a:ext cx="2150000" cy="351463"/>
          </a:xfrm>
          <a:prstGeom prst="rect">
            <a:avLst/>
          </a:prstGeom>
        </p:spPr>
      </p:pic>
      <p:graphicFrame>
        <p:nvGraphicFramePr>
          <p:cNvPr id="19" name="טבלה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0351"/>
              </p:ext>
            </p:extLst>
          </p:nvPr>
        </p:nvGraphicFramePr>
        <p:xfrm>
          <a:off x="488101" y="4437282"/>
          <a:ext cx="7099314" cy="165938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366438">
                  <a:extLst>
                    <a:ext uri="{9D8B030D-6E8A-4147-A177-3AD203B41FA5}">
                      <a16:colId xmlns:a16="http://schemas.microsoft.com/office/drawing/2014/main" val="4169945070"/>
                    </a:ext>
                  </a:extLst>
                </a:gridCol>
                <a:gridCol w="2366438">
                  <a:extLst>
                    <a:ext uri="{9D8B030D-6E8A-4147-A177-3AD203B41FA5}">
                      <a16:colId xmlns:a16="http://schemas.microsoft.com/office/drawing/2014/main" val="3372273721"/>
                    </a:ext>
                  </a:extLst>
                </a:gridCol>
                <a:gridCol w="2366438">
                  <a:extLst>
                    <a:ext uri="{9D8B030D-6E8A-4147-A177-3AD203B41FA5}">
                      <a16:colId xmlns:a16="http://schemas.microsoft.com/office/drawing/2014/main" val="445580127"/>
                    </a:ext>
                  </a:extLst>
                </a:gridCol>
              </a:tblGrid>
              <a:tr h="2468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Target: &lt; 350m%rms</a:t>
                      </a:r>
                      <a:endParaRPr lang="en-US" sz="13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  <a:p>
                      <a:pPr rtl="1"/>
                      <a:endParaRPr lang="he-IL" sz="13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EVM [</a:t>
                      </a:r>
                      <a:r>
                        <a:rPr lang="en-US" sz="1300" b="1" dirty="0" err="1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m%rms</a:t>
                      </a: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 Fixed Point (Q3.12)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 </a:t>
                      </a:r>
                      <a:endParaRPr lang="en-US" sz="13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b="1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Up-sampling Factor (L)</a:t>
                      </a:r>
                      <a:endParaRPr lang="en-US" sz="13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335782"/>
                  </a:ext>
                </a:extLst>
              </a:tr>
              <a:tr h="217836">
                <a:tc>
                  <a:txBody>
                    <a:bodyPr/>
                    <a:lstStyle/>
                    <a:p>
                      <a:pPr rtl="1"/>
                      <a:r>
                        <a:rPr lang="en-US" sz="1300" dirty="0"/>
                        <a:t>Pass</a:t>
                      </a:r>
                      <a:endParaRPr lang="he-I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116.21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813626"/>
                  </a:ext>
                </a:extLst>
              </a:tr>
              <a:tr h="217836">
                <a:tc>
                  <a:txBody>
                    <a:bodyPr/>
                    <a:lstStyle/>
                    <a:p>
                      <a:pPr rtl="1"/>
                      <a:r>
                        <a:rPr lang="en-US" sz="1300" dirty="0"/>
                        <a:t>Pass</a:t>
                      </a:r>
                      <a:endParaRPr lang="he-I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186.41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2582489"/>
                  </a:ext>
                </a:extLst>
              </a:tr>
              <a:tr h="217836">
                <a:tc>
                  <a:txBody>
                    <a:bodyPr/>
                    <a:lstStyle/>
                    <a:p>
                      <a:pPr rtl="1"/>
                      <a:r>
                        <a:rPr lang="en-US" sz="1300" dirty="0"/>
                        <a:t>Pass</a:t>
                      </a:r>
                      <a:endParaRPr lang="he-I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192.94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9139354"/>
                  </a:ext>
                </a:extLst>
              </a:tr>
              <a:tr h="217836">
                <a:tc>
                  <a:txBody>
                    <a:bodyPr/>
                    <a:lstStyle/>
                    <a:p>
                      <a:pPr rtl="1"/>
                      <a:r>
                        <a:rPr lang="en-US" sz="1300" dirty="0"/>
                        <a:t>Pass</a:t>
                      </a:r>
                      <a:endParaRPr lang="he-IL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77.881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300" i="0" dirty="0">
                          <a:solidFill>
                            <a:srgbClr val="1E2630"/>
                          </a:solidFill>
                          <a:effectLst/>
                          <a:latin typeface="Calibri" panose="020F0502020204030204" pitchFamily="34" charset="0"/>
                          <a:ea typeface="MS Mincho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5331830"/>
                  </a:ext>
                </a:extLst>
              </a:tr>
            </a:tbl>
          </a:graphicData>
        </a:graphic>
      </p:graphicFrame>
      <p:sp>
        <p:nvSpPr>
          <p:cNvPr id="17" name="Shape 2"/>
          <p:cNvSpPr/>
          <p:nvPr/>
        </p:nvSpPr>
        <p:spPr>
          <a:xfrm>
            <a:off x="566928" y="778932"/>
            <a:ext cx="11155680" cy="0"/>
          </a:xfrm>
          <a:prstGeom prst="line">
            <a:avLst/>
          </a:prstGeom>
          <a:noFill/>
          <a:ln w="15240">
            <a:solidFill>
              <a:srgbClr val="00A6B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cardL">
            <a:extLst>
              <a:ext uri="{FF2B5EF4-FFF2-40B4-BE49-F238E27FC236}">
                <a16:creationId xmlns:a16="http://schemas.microsoft.com/office/drawing/2014/main" id="{590EE2EC-84FB-EE6B-A3DF-B08C80792035}"/>
              </a:ext>
            </a:extLst>
          </p:cNvPr>
          <p:cNvSpPr/>
          <p:nvPr/>
        </p:nvSpPr>
        <p:spPr>
          <a:xfrm>
            <a:off x="398063" y="1381920"/>
            <a:ext cx="3651386" cy="2804507"/>
          </a:xfrm>
          <a:prstGeom prst="roundRect">
            <a:avLst>
              <a:gd name="adj" fmla="val 3200"/>
            </a:avLst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E85E887-F149-5792-8A01-6CD779122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80" y="1972570"/>
            <a:ext cx="3257336" cy="15329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5E6B88-2978-B092-DF6E-A401429E1A20}"/>
              </a:ext>
            </a:extLst>
          </p:cNvPr>
          <p:cNvSpPr txBox="1"/>
          <p:nvPr/>
        </p:nvSpPr>
        <p:spPr>
          <a:xfrm>
            <a:off x="576370" y="1486078"/>
            <a:ext cx="316859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1350" b="1" dirty="0">
                <a:solidFill>
                  <a:schemeClr val="accent6"/>
                </a:solidFill>
              </a:rPr>
              <a:t>ORIGINAL INPUT 60 —MSa/s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10BE14-541A-1728-328B-61BCA428B994}"/>
              </a:ext>
            </a:extLst>
          </p:cNvPr>
          <p:cNvSpPr txBox="1"/>
          <p:nvPr/>
        </p:nvSpPr>
        <p:spPr>
          <a:xfrm>
            <a:off x="517797" y="3541950"/>
            <a:ext cx="3454098" cy="6001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dirty="0"/>
              <a:t>The original 64-QAM input contains one clean 20 MHz baseband channel with no interpolation images. </a:t>
            </a:r>
            <a:r>
              <a:rPr lang="he-IL" sz="1100" dirty="0"/>
              <a:t>EVM: 79  m%</a:t>
            </a:r>
            <a:r>
              <a:rPr lang="en-US" sz="1100" dirty="0"/>
              <a:t>rms.</a:t>
            </a:r>
            <a:endParaRPr lang="he-IL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5">
                <a:extLst>
                  <a:ext uri="{FF2B5EF4-FFF2-40B4-BE49-F238E27FC236}">
                    <a16:creationId xmlns:a16="http://schemas.microsoft.com/office/drawing/2014/main" id="{09C26126-C53B-9FAB-452D-49802F9D8F8D}"/>
                  </a:ext>
                </a:extLst>
              </p:cNvPr>
              <p:cNvSpPr/>
              <p:nvPr/>
            </p:nvSpPr>
            <p:spPr>
              <a:xfrm>
                <a:off x="7912042" y="4535311"/>
                <a:ext cx="3712725" cy="1463324"/>
              </a:xfrm>
              <a:prstGeom prst="roundRect">
                <a:avLst/>
              </a:prstGeom>
              <a:noFill/>
              <a:ln>
                <a:solidFill>
                  <a:srgbClr val="0827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300" dirty="0" smtClean="0">
                    <a:solidFill>
                      <a:schemeClr val="tx1"/>
                    </a:solidFill>
                  </a:rPr>
                  <a:t>Upsampling increases the sampling rate from 60 to </a:t>
                </a:r>
                <a14:m>
                  <m:oMath xmlns:m="http://schemas.openxmlformats.org/officeDocument/2006/math">
                    <m:r>
                      <a:rPr lang="en-US" sz="13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US" sz="13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sz="1300" dirty="0">
                    <a:solidFill>
                      <a:schemeClr val="tx1"/>
                    </a:solidFill>
                  </a:rPr>
                  <a:t>MSa/s and produces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sz="1300" dirty="0">
                    <a:solidFill>
                      <a:schemeClr val="tx1"/>
                    </a:solidFill>
                  </a:rPr>
                  <a:t> times more samples, while the FIR preserves the approximately 21 MHz signal bandwidth and suppresses spectral replicas.</a:t>
                </a:r>
              </a:p>
            </p:txBody>
          </p:sp>
        </mc:Choice>
        <mc:Fallback xmlns="">
          <p:sp>
            <p:nvSpPr>
              <p:cNvPr id="38" name="Rounded Rectangle 35">
                <a:extLst>
                  <a:ext uri="{FF2B5EF4-FFF2-40B4-BE49-F238E27FC236}">
                    <a16:creationId xmlns:a16="http://schemas.microsoft.com/office/drawing/2014/main" id="{09C26126-C53B-9FAB-452D-49802F9D8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042" y="4535311"/>
                <a:ext cx="3712725" cy="146332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8274E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4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8C8D47C-A60E-73D3-9C9B-0F40EF320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4" y="1426478"/>
            <a:ext cx="7527573" cy="5021651"/>
          </a:xfrm>
          <a:prstGeom prst="rect">
            <a:avLst/>
          </a:prstGeom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pic>
        <p:nvPicPr>
          <p:cNvPr id="4" name="tau_logo" descr="T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260" y="56450"/>
            <a:ext cx="3037740" cy="49658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23237" y="179716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Architecture-RTL Design (Verilog)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 1"/>
          <p:cNvSpPr/>
          <p:nvPr/>
        </p:nvSpPr>
        <p:spPr>
          <a:xfrm>
            <a:off x="521208" y="71323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B6574"/>
                </a:solidFill>
                <a:effectLst/>
                <a:uLnTx/>
                <a:uFillTx/>
              </a:rPr>
              <a:t>How the MATLAB algorithm was translated into a programmable I/Q hardware datapath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1298448"/>
            <a:ext cx="7543800" cy="5057902"/>
          </a:xfrm>
          <a:prstGeom prst="roundRect">
            <a:avLst>
              <a:gd name="adj" fmla="val 1876"/>
            </a:avLst>
          </a:prstGeom>
          <a:noFill/>
          <a:ln w="15240">
            <a:solidFill>
              <a:srgbClr val="8EB9E8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7"/>
          <p:cNvSpPr/>
          <p:nvPr/>
        </p:nvSpPr>
        <p:spPr>
          <a:xfrm>
            <a:off x="8458200" y="13075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Key architecture points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Shape 8"/>
          <p:cNvSpPr/>
          <p:nvPr/>
        </p:nvSpPr>
        <p:spPr>
          <a:xfrm>
            <a:off x="8366760" y="1664208"/>
            <a:ext cx="3246120" cy="758952"/>
          </a:xfrm>
          <a:prstGeom prst="roundRect">
            <a:avLst>
              <a:gd name="adj" fmla="val 12048"/>
            </a:avLst>
          </a:prstGeom>
          <a:noFill/>
          <a:ln w="12700">
            <a:solidFill>
              <a:srgbClr val="A9DDE3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9"/>
          <p:cNvSpPr/>
          <p:nvPr/>
        </p:nvSpPr>
        <p:spPr>
          <a:xfrm>
            <a:off x="8613648" y="18105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Two parallel I/Q datapaths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 10"/>
          <p:cNvSpPr/>
          <p:nvPr/>
        </p:nvSpPr>
        <p:spPr>
          <a:xfrm>
            <a:off x="8613648" y="204825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5B6574"/>
                </a:solidFill>
                <a:effectLst/>
                <a:uLnTx/>
                <a:uFillTx/>
              </a:rPr>
              <a:t>Same numerical chain for I and Q</a:t>
            </a:r>
            <a:endParaRPr kumimoji="0" lang="en-US" sz="9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8366760" y="2578608"/>
            <a:ext cx="324612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2"/>
          <p:cNvSpPr/>
          <p:nvPr/>
        </p:nvSpPr>
        <p:spPr>
          <a:xfrm>
            <a:off x="8613648" y="2724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I path = timing master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 13"/>
          <p:cNvSpPr/>
          <p:nvPr/>
        </p:nvSpPr>
        <p:spPr>
          <a:xfrm>
            <a:off x="8613648" y="2962656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5B6574"/>
                </a:solidFill>
                <a:effectLst/>
                <a:uLnTx/>
                <a:uFillTx/>
              </a:rPr>
              <a:t>Provides word mode, strobes and phase</a:t>
            </a:r>
            <a:endParaRPr kumimoji="0" lang="en-US" sz="9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8366760" y="3493008"/>
            <a:ext cx="324612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5"/>
          <p:cNvSpPr/>
          <p:nvPr/>
        </p:nvSpPr>
        <p:spPr>
          <a:xfrm>
            <a:off x="8613648" y="3639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Q path = timing slave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 16"/>
          <p:cNvSpPr/>
          <p:nvPr/>
        </p:nvSpPr>
        <p:spPr>
          <a:xfrm>
            <a:off x="8613648" y="3877056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5B6574"/>
                </a:solidFill>
                <a:effectLst/>
                <a:uLnTx/>
                <a:uFillTx/>
              </a:rPr>
              <a:t>Follows mode15_word and phase_shared</a:t>
            </a:r>
            <a:endParaRPr kumimoji="0" lang="en-US" sz="9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8366760" y="4407408"/>
            <a:ext cx="324612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5F2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Text 18"/>
          <p:cNvSpPr/>
          <p:nvPr/>
        </p:nvSpPr>
        <p:spPr>
          <a:xfrm>
            <a:off x="8613648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Programmable L = 2,3,4,5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19"/>
          <p:cNvSpPr/>
          <p:nvPr/>
        </p:nvSpPr>
        <p:spPr>
          <a:xfrm>
            <a:off x="8613648" y="4791456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5B6574"/>
                </a:solidFill>
                <a:effectLst/>
                <a:uLnTx/>
                <a:uFillTx/>
              </a:rPr>
              <a:t>Output rates: 120–300 MSa/s</a:t>
            </a:r>
            <a:endParaRPr kumimoji="0" lang="en-US" sz="9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Shape 35"/>
          <p:cNvSpPr/>
          <p:nvPr/>
        </p:nvSpPr>
        <p:spPr>
          <a:xfrm>
            <a:off x="8327898" y="5413606"/>
            <a:ext cx="3257550" cy="676298"/>
          </a:xfrm>
          <a:prstGeom prst="roundRect">
            <a:avLst>
              <a:gd name="adj" fmla="val 31818"/>
            </a:avLst>
          </a:prstGeom>
          <a:solidFill>
            <a:srgbClr val="F5FAFF"/>
          </a:solidFill>
          <a:ln w="6350">
            <a:solidFill>
              <a:srgbClr val="D5E4F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36"/>
          <p:cNvSpPr/>
          <p:nvPr/>
        </p:nvSpPr>
        <p:spPr>
          <a:xfrm>
            <a:off x="8418582" y="5550408"/>
            <a:ext cx="2983986" cy="43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</a:rPr>
              <a:t>Main idea: one shared control structure keeps both I and Q synchronized while supporting four programmable interpolation rates.</a:t>
            </a:r>
            <a:endParaRPr kumimoji="0" lang="en-US" sz="92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29768" y="941832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5"/>
          <p:cNvSpPr/>
          <p:nvPr/>
        </p:nvSpPr>
        <p:spPr>
          <a:xfrm>
            <a:off x="429768" y="941832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50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pic>
        <p:nvPicPr>
          <p:cNvPr id="6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101" y="102159"/>
            <a:ext cx="2897899" cy="47372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-</a:t>
            </a:r>
            <a:r>
              <a:rPr lang="en-US" sz="2000" b="1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and Multi-Rate Operation</a:t>
            </a:r>
            <a:endParaRPr lang="en-US" sz="2000" dirty="0"/>
          </a:p>
        </p:txBody>
      </p:sp>
      <p:sp>
        <p:nvSpPr>
          <p:cNvPr id="8" name="Text 1"/>
          <p:cNvSpPr/>
          <p:nvPr/>
        </p:nvSpPr>
        <p:spPr>
          <a:xfrm>
            <a:off x="521208" y="71323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</a:rPr>
              <a:t>Configuration, coefficient loading and L-dependent output scheduling</a:t>
            </a:r>
            <a:endParaRPr lang="en-US" sz="1150" dirty="0"/>
          </a:p>
        </p:txBody>
      </p:sp>
      <p:sp>
        <p:nvSpPr>
          <p:cNvPr id="9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5240">
            <a:solidFill>
              <a:srgbClr val="00A6B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9"/>
          <p:cNvSpPr/>
          <p:nvPr/>
        </p:nvSpPr>
        <p:spPr>
          <a:xfrm>
            <a:off x="8081493" y="1610738"/>
            <a:ext cx="1522476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5D7EA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56" name="Shape 9"/>
          <p:cNvSpPr/>
          <p:nvPr/>
        </p:nvSpPr>
        <p:spPr>
          <a:xfrm>
            <a:off x="6377940" y="1610738"/>
            <a:ext cx="1522476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5D7EA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57" name="Shape 9"/>
          <p:cNvSpPr/>
          <p:nvPr/>
        </p:nvSpPr>
        <p:spPr>
          <a:xfrm>
            <a:off x="4631436" y="1610738"/>
            <a:ext cx="1522476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5D7EA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58" name="Text 3"/>
          <p:cNvSpPr/>
          <p:nvPr/>
        </p:nvSpPr>
        <p:spPr>
          <a:xfrm>
            <a:off x="630936" y="1210283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55"/>
                </a:solidFill>
              </a:rPr>
              <a:t>Startup sequence</a:t>
            </a:r>
            <a:endParaRPr lang="en-US" sz="1800" dirty="0"/>
          </a:p>
        </p:txBody>
      </p:sp>
      <p:sp>
        <p:nvSpPr>
          <p:cNvPr id="59" name="Shape 4"/>
          <p:cNvSpPr/>
          <p:nvPr/>
        </p:nvSpPr>
        <p:spPr>
          <a:xfrm>
            <a:off x="1220724" y="1594331"/>
            <a:ext cx="1522476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5D7EA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60" name="Text 6"/>
          <p:cNvSpPr/>
          <p:nvPr/>
        </p:nvSpPr>
        <p:spPr>
          <a:xfrm>
            <a:off x="1456972" y="1886939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5C"/>
                </a:solidFill>
              </a:rPr>
              <a:t>RESET</a:t>
            </a:r>
            <a:endParaRPr lang="en-US" sz="1100" dirty="0">
              <a:solidFill>
                <a:srgbClr val="0A2E5C"/>
              </a:solidFill>
            </a:endParaRPr>
          </a:p>
        </p:txBody>
      </p:sp>
      <p:sp>
        <p:nvSpPr>
          <p:cNvPr id="61" name="Text 7"/>
          <p:cNvSpPr/>
          <p:nvPr/>
        </p:nvSpPr>
        <p:spPr>
          <a:xfrm>
            <a:off x="1456972" y="2060675"/>
            <a:ext cx="11307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dirty="0"/>
              <a:t>clear state</a:t>
            </a:r>
          </a:p>
        </p:txBody>
      </p:sp>
      <p:sp>
        <p:nvSpPr>
          <p:cNvPr id="62" name="Shape 8"/>
          <p:cNvSpPr/>
          <p:nvPr/>
        </p:nvSpPr>
        <p:spPr>
          <a:xfrm>
            <a:off x="2743200" y="1996667"/>
            <a:ext cx="182880" cy="0"/>
          </a:xfrm>
          <a:prstGeom prst="line">
            <a:avLst/>
          </a:prstGeom>
          <a:noFill/>
          <a:ln w="19050">
            <a:solidFill>
              <a:srgbClr val="00A6B2"/>
            </a:solidFill>
            <a:prstDash val="solid"/>
            <a:tailEnd type="triangle"/>
          </a:ln>
        </p:spPr>
      </p:sp>
      <p:sp>
        <p:nvSpPr>
          <p:cNvPr id="63" name="Shape 9"/>
          <p:cNvSpPr/>
          <p:nvPr/>
        </p:nvSpPr>
        <p:spPr>
          <a:xfrm>
            <a:off x="2926080" y="1594331"/>
            <a:ext cx="1522476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5D7EA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64" name="Text 11"/>
          <p:cNvSpPr/>
          <p:nvPr/>
        </p:nvSpPr>
        <p:spPr>
          <a:xfrm>
            <a:off x="3154765" y="1830999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5C"/>
                </a:solidFill>
              </a:rPr>
              <a:t>Read L</a:t>
            </a:r>
            <a:endParaRPr lang="en-US" sz="1100" dirty="0">
              <a:solidFill>
                <a:srgbClr val="0A2E5C"/>
              </a:solidFill>
            </a:endParaRPr>
          </a:p>
        </p:txBody>
      </p:sp>
      <p:sp>
        <p:nvSpPr>
          <p:cNvPr id="65" name="Text 12"/>
          <p:cNvSpPr/>
          <p:nvPr/>
        </p:nvSpPr>
        <p:spPr>
          <a:xfrm>
            <a:off x="2834640" y="1971536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/>
              <a:t>sync + L[2:0]</a:t>
            </a:r>
          </a:p>
        </p:txBody>
      </p:sp>
      <p:sp>
        <p:nvSpPr>
          <p:cNvPr id="66" name="Shape 13"/>
          <p:cNvSpPr/>
          <p:nvPr/>
        </p:nvSpPr>
        <p:spPr>
          <a:xfrm>
            <a:off x="4448556" y="2001282"/>
            <a:ext cx="182880" cy="0"/>
          </a:xfrm>
          <a:prstGeom prst="line">
            <a:avLst/>
          </a:prstGeom>
          <a:noFill/>
          <a:ln w="19050">
            <a:solidFill>
              <a:srgbClr val="00A6B2"/>
            </a:solidFill>
            <a:prstDash val="solid"/>
            <a:tailEnd type="triangle"/>
          </a:ln>
        </p:spPr>
      </p:sp>
      <p:sp>
        <p:nvSpPr>
          <p:cNvPr id="67" name="Text 16"/>
          <p:cNvSpPr/>
          <p:nvPr/>
        </p:nvSpPr>
        <p:spPr>
          <a:xfrm>
            <a:off x="4898898" y="1787936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Load FIR</a:t>
            </a:r>
            <a:endParaRPr lang="en-US" sz="1050" dirty="0"/>
          </a:p>
        </p:txBody>
      </p:sp>
      <p:sp>
        <p:nvSpPr>
          <p:cNvPr id="68" name="Text 17"/>
          <p:cNvSpPr/>
          <p:nvPr/>
        </p:nvSpPr>
        <p:spPr>
          <a:xfrm>
            <a:off x="4544397" y="2025980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/>
              <a:t>10 coefficients</a:t>
            </a:r>
          </a:p>
        </p:txBody>
      </p:sp>
      <p:sp>
        <p:nvSpPr>
          <p:cNvPr id="69" name="Shape 18"/>
          <p:cNvSpPr/>
          <p:nvPr/>
        </p:nvSpPr>
        <p:spPr>
          <a:xfrm>
            <a:off x="6153912" y="2025980"/>
            <a:ext cx="182880" cy="0"/>
          </a:xfrm>
          <a:prstGeom prst="line">
            <a:avLst/>
          </a:prstGeom>
          <a:noFill/>
          <a:ln w="19050">
            <a:solidFill>
              <a:srgbClr val="00A6B2"/>
            </a:solidFill>
            <a:prstDash val="solid"/>
            <a:tailEnd type="triangle"/>
          </a:ln>
        </p:spPr>
      </p:sp>
      <p:sp>
        <p:nvSpPr>
          <p:cNvPr id="70" name="Text 21"/>
          <p:cNvSpPr/>
          <p:nvPr/>
        </p:nvSpPr>
        <p:spPr>
          <a:xfrm>
            <a:off x="6645402" y="18145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E5C"/>
                </a:solidFill>
              </a:rPr>
              <a:t>coeff_done</a:t>
            </a:r>
            <a:endParaRPr lang="en-US" sz="1050" dirty="0">
              <a:solidFill>
                <a:srgbClr val="0A2E5C"/>
              </a:solidFill>
            </a:endParaRPr>
          </a:p>
        </p:txBody>
      </p:sp>
      <p:sp>
        <p:nvSpPr>
          <p:cNvPr id="71" name="Text 22"/>
          <p:cNvSpPr/>
          <p:nvPr/>
        </p:nvSpPr>
        <p:spPr>
          <a:xfrm>
            <a:off x="6304788" y="2025980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/>
              <a:t>streaming enabled</a:t>
            </a:r>
          </a:p>
        </p:txBody>
      </p:sp>
      <p:sp>
        <p:nvSpPr>
          <p:cNvPr id="72" name="Shape 23"/>
          <p:cNvSpPr/>
          <p:nvPr/>
        </p:nvSpPr>
        <p:spPr>
          <a:xfrm>
            <a:off x="7900416" y="2025980"/>
            <a:ext cx="182880" cy="0"/>
          </a:xfrm>
          <a:prstGeom prst="line">
            <a:avLst/>
          </a:prstGeom>
          <a:noFill/>
          <a:ln w="19050">
            <a:solidFill>
              <a:srgbClr val="00A6B2"/>
            </a:solidFill>
            <a:prstDash val="solid"/>
            <a:tailEnd type="triangle"/>
          </a:ln>
        </p:spPr>
      </p:sp>
      <p:sp>
        <p:nvSpPr>
          <p:cNvPr id="73" name="Text 26"/>
          <p:cNvSpPr/>
          <p:nvPr/>
        </p:nvSpPr>
        <p:spPr>
          <a:xfrm>
            <a:off x="8430768" y="1830999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5C"/>
                </a:solidFill>
              </a:rPr>
              <a:t>I/Q Streami</a:t>
            </a:r>
            <a:endParaRPr lang="en-US" sz="1100" dirty="0">
              <a:solidFill>
                <a:srgbClr val="0A2E5C"/>
              </a:solidFill>
            </a:endParaRPr>
          </a:p>
        </p:txBody>
      </p:sp>
      <p:sp>
        <p:nvSpPr>
          <p:cNvPr id="74" name="Text 27"/>
          <p:cNvSpPr/>
          <p:nvPr/>
        </p:nvSpPr>
        <p:spPr>
          <a:xfrm>
            <a:off x="8051292" y="2035335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/>
              <a:t>MINAJ2 → FIR</a:t>
            </a:r>
          </a:p>
        </p:txBody>
      </p:sp>
      <p:sp>
        <p:nvSpPr>
          <p:cNvPr id="75" name="Shape 28"/>
          <p:cNvSpPr/>
          <p:nvPr/>
        </p:nvSpPr>
        <p:spPr>
          <a:xfrm>
            <a:off x="676656" y="2664179"/>
            <a:ext cx="3703320" cy="1124712"/>
          </a:xfrm>
          <a:prstGeom prst="roundRect">
            <a:avLst>
              <a:gd name="adj" fmla="val 8130"/>
            </a:avLst>
          </a:prstGeom>
          <a:solidFill>
            <a:srgbClr val="F4FCFC"/>
          </a:solidFill>
          <a:ln w="12700">
            <a:solidFill>
              <a:srgbClr val="D2E2F4"/>
            </a:solidFill>
            <a:prstDash val="solid"/>
          </a:ln>
        </p:spPr>
      </p:sp>
      <p:sp>
        <p:nvSpPr>
          <p:cNvPr id="76" name="Text 29"/>
          <p:cNvSpPr/>
          <p:nvPr/>
        </p:nvSpPr>
        <p:spPr>
          <a:xfrm>
            <a:off x="905256" y="2819627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A55"/>
                </a:solidFill>
              </a:rPr>
              <a:t>Mode gating</a:t>
            </a:r>
            <a:endParaRPr lang="en-US" sz="1350" dirty="0"/>
          </a:p>
        </p:txBody>
      </p:sp>
      <p:sp>
        <p:nvSpPr>
          <p:cNvPr id="77" name="Text 30"/>
          <p:cNvSpPr/>
          <p:nvPr/>
        </p:nvSpPr>
        <p:spPr>
          <a:xfrm>
            <a:off x="905256" y="3130523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142"/>
                </a:solidFill>
              </a:rPr>
              <a:t>coeff_load_mode = en_stream &amp;&amp; !coeff_done</a:t>
            </a:r>
            <a:endParaRPr lang="en-US" sz="1020" dirty="0"/>
          </a:p>
        </p:txBody>
      </p:sp>
      <p:sp>
        <p:nvSpPr>
          <p:cNvPr id="78" name="Text 31"/>
          <p:cNvSpPr/>
          <p:nvPr/>
        </p:nvSpPr>
        <p:spPr>
          <a:xfrm>
            <a:off x="905256" y="3423131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63142"/>
                </a:solidFill>
              </a:rPr>
              <a:t>en_iq = en_stream &amp;&amp; coeff_done</a:t>
            </a:r>
            <a:endParaRPr lang="en-US" sz="1020" dirty="0"/>
          </a:p>
        </p:txBody>
      </p:sp>
      <p:sp>
        <p:nvSpPr>
          <p:cNvPr id="79" name="Shape 32"/>
          <p:cNvSpPr/>
          <p:nvPr/>
        </p:nvSpPr>
        <p:spPr>
          <a:xfrm>
            <a:off x="4572000" y="2664179"/>
            <a:ext cx="3227832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D2E2F4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80" name="Text 33"/>
          <p:cNvSpPr/>
          <p:nvPr/>
        </p:nvSpPr>
        <p:spPr>
          <a:xfrm>
            <a:off x="4800600" y="2819627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A55"/>
                </a:solidFill>
              </a:rPr>
              <a:t>Input sample event</a:t>
            </a:r>
            <a:endParaRPr lang="en-US" sz="1350" dirty="0"/>
          </a:p>
        </p:txBody>
      </p:sp>
      <p:sp>
        <p:nvSpPr>
          <p:cNvPr id="81" name="Text 34"/>
          <p:cNvSpPr/>
          <p:nvPr/>
        </p:nvSpPr>
        <p:spPr>
          <a:xfrm>
            <a:off x="4800600" y="3148811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B2"/>
                </a:solidFill>
              </a:rPr>
              <a:t>strobe_iq = 60 MHz</a:t>
            </a:r>
            <a:endParaRPr lang="en-US" sz="1300" dirty="0"/>
          </a:p>
        </p:txBody>
      </p:sp>
      <p:sp>
        <p:nvSpPr>
          <p:cNvPr id="82" name="Text 35"/>
          <p:cNvSpPr/>
          <p:nvPr/>
        </p:nvSpPr>
        <p:spPr>
          <a:xfrm>
            <a:off x="4800600" y="3441419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New synchronized I/Q </a:t>
            </a:r>
            <a:r>
              <a:rPr lang="en-US" sz="950" dirty="0" smtClean="0">
                <a:solidFill>
                  <a:srgbClr val="5B6574"/>
                </a:solidFill>
              </a:rPr>
              <a:t>pair </a:t>
            </a:r>
            <a:endParaRPr lang="en-US" sz="950" dirty="0"/>
          </a:p>
        </p:txBody>
      </p:sp>
      <p:sp>
        <p:nvSpPr>
          <p:cNvPr id="83" name="Shape 36"/>
          <p:cNvSpPr/>
          <p:nvPr/>
        </p:nvSpPr>
        <p:spPr>
          <a:xfrm>
            <a:off x="7973568" y="2664179"/>
            <a:ext cx="361188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D2E2F4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84" name="Text 37"/>
          <p:cNvSpPr/>
          <p:nvPr/>
        </p:nvSpPr>
        <p:spPr>
          <a:xfrm>
            <a:off x="8202168" y="2819627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A55"/>
                </a:solidFill>
              </a:rPr>
              <a:t>Output sample event</a:t>
            </a:r>
            <a:endParaRPr lang="en-US" sz="1350" dirty="0"/>
          </a:p>
        </p:txBody>
      </p:sp>
      <p:sp>
        <p:nvSpPr>
          <p:cNvPr id="85" name="Text 38"/>
          <p:cNvSpPr/>
          <p:nvPr/>
        </p:nvSpPr>
        <p:spPr>
          <a:xfrm>
            <a:off x="8202168" y="3148811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B2"/>
                </a:solidFill>
              </a:rPr>
              <a:t>shift_strobe_iq = 60 × L MHz</a:t>
            </a:r>
            <a:endParaRPr lang="en-US" sz="1300" dirty="0"/>
          </a:p>
        </p:txBody>
      </p:sp>
      <p:sp>
        <p:nvSpPr>
          <p:cNvPr id="86" name="Text 39"/>
          <p:cNvSpPr/>
          <p:nvPr/>
        </p:nvSpPr>
        <p:spPr>
          <a:xfrm>
            <a:off x="8202168" y="3441419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Selects next interpolated sample</a:t>
            </a:r>
            <a:endParaRPr lang="en-US" sz="950" dirty="0"/>
          </a:p>
        </p:txBody>
      </p:sp>
      <p:sp>
        <p:nvSpPr>
          <p:cNvPr id="87" name="Text 40"/>
          <p:cNvSpPr/>
          <p:nvPr/>
        </p:nvSpPr>
        <p:spPr>
          <a:xfrm>
            <a:off x="744429" y="4042771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55"/>
                </a:solidFill>
              </a:rPr>
              <a:t>Mode table</a:t>
            </a:r>
            <a:endParaRPr lang="en-US" sz="1800" dirty="0"/>
          </a:p>
        </p:txBody>
      </p:sp>
      <p:sp>
        <p:nvSpPr>
          <p:cNvPr id="88" name="Shape 91"/>
          <p:cNvSpPr/>
          <p:nvPr/>
        </p:nvSpPr>
        <p:spPr>
          <a:xfrm>
            <a:off x="6124328" y="4326085"/>
            <a:ext cx="5005444" cy="1493071"/>
          </a:xfrm>
          <a:prstGeom prst="roundRect">
            <a:avLst>
              <a:gd name="adj" fmla="val 6452"/>
            </a:avLst>
          </a:prstGeom>
          <a:noFill/>
          <a:ln w="12700">
            <a:solidFill>
              <a:srgbClr val="A5DDE3"/>
            </a:solidFill>
            <a:prstDash val="solid"/>
          </a:ln>
          <a:effectLst>
            <a:outerShdw blurRad="12700" dist="50800" dir="2700000" algn="bl" rotWithShape="0">
              <a:srgbClr val="D5DEE9">
                <a:alpha val="35000"/>
              </a:srgbClr>
            </a:outerShdw>
          </a:effectLst>
        </p:spPr>
      </p:sp>
      <p:sp>
        <p:nvSpPr>
          <p:cNvPr id="89" name="Text 92"/>
          <p:cNvSpPr/>
          <p:nvPr/>
        </p:nvSpPr>
        <p:spPr>
          <a:xfrm>
            <a:off x="6261488" y="4527254"/>
            <a:ext cx="36400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Why this timing works</a:t>
            </a:r>
            <a:endParaRPr lang="en-US" sz="1550" dirty="0"/>
          </a:p>
        </p:txBody>
      </p:sp>
      <p:sp>
        <p:nvSpPr>
          <p:cNvPr id="90" name="Text 93"/>
          <p:cNvSpPr/>
          <p:nvPr/>
        </p:nvSpPr>
        <p:spPr>
          <a:xfrm>
            <a:off x="6261488" y="4883870"/>
            <a:ext cx="3640011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6B2"/>
                </a:solidFill>
              </a:rPr>
              <a:t>960 MHz / 16 = 60 </a:t>
            </a:r>
            <a:r>
              <a:rPr lang="en-US" sz="1150" b="1" dirty="0" smtClean="0">
                <a:solidFill>
                  <a:srgbClr val="00A6B2"/>
                </a:solidFill>
              </a:rPr>
              <a:t>MHz     </a:t>
            </a:r>
            <a:r>
              <a:rPr lang="en-US" sz="1150" b="1" dirty="0">
                <a:solidFill>
                  <a:srgbClr val="00A6B2"/>
                </a:solidFill>
              </a:rPr>
              <a:t>|     900 MHz / 15 = 60 </a:t>
            </a:r>
            <a:r>
              <a:rPr lang="en-US" sz="1150" b="1" dirty="0" smtClean="0">
                <a:solidFill>
                  <a:srgbClr val="00A6B2"/>
                </a:solidFill>
              </a:rPr>
              <a:t>MHz</a:t>
            </a:r>
            <a:endParaRPr lang="en-US" sz="1150" dirty="0"/>
          </a:p>
        </p:txBody>
      </p:sp>
      <p:sp>
        <p:nvSpPr>
          <p:cNvPr id="91" name="Text 94"/>
          <p:cNvSpPr/>
          <p:nvPr/>
        </p:nvSpPr>
        <p:spPr>
          <a:xfrm>
            <a:off x="6263520" y="5042082"/>
            <a:ext cx="4683880" cy="5614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The design uses one external clock at a time. Multi-rate behavior is created by enables and strobes, not by generating extra clock domains</a:t>
            </a:r>
            <a:r>
              <a:rPr lang="en-US" sz="1100" dirty="0">
                <a:solidFill>
                  <a:srgbClr val="263142"/>
                </a:solidFill>
              </a:rPr>
              <a:t>.</a:t>
            </a:r>
            <a:endParaRPr lang="en-US" sz="11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93835"/>
              </p:ext>
            </p:extLst>
          </p:nvPr>
        </p:nvGraphicFramePr>
        <p:xfrm>
          <a:off x="685800" y="4326086"/>
          <a:ext cx="4937760" cy="19933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L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word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bits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bit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clk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word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shift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div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out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solidFill>
                      <a:srgbClr val="0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960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120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900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180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960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240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900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60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300 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" name="Shape 95"/>
          <p:cNvSpPr/>
          <p:nvPr/>
        </p:nvSpPr>
        <p:spPr>
          <a:xfrm>
            <a:off x="6079236" y="5931172"/>
            <a:ext cx="5050536" cy="425178"/>
          </a:xfrm>
          <a:prstGeom prst="roundRect">
            <a:avLst>
              <a:gd name="adj" fmla="val 24242"/>
            </a:avLst>
          </a:prstGeom>
          <a:solidFill>
            <a:srgbClr val="0A2A55"/>
          </a:solidFill>
          <a:ln w="12700">
            <a:solidFill>
              <a:srgbClr val="0A2A55"/>
            </a:solidFill>
            <a:prstDash val="solid"/>
          </a:ln>
        </p:spPr>
      </p:sp>
      <p:sp>
        <p:nvSpPr>
          <p:cNvPr id="94" name="Text 96"/>
          <p:cNvSpPr/>
          <p:nvPr/>
        </p:nvSpPr>
        <p:spPr>
          <a:xfrm>
            <a:off x="6335267" y="6022612"/>
            <a:ext cx="4804994" cy="18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Takeaway: configuration and coefficient loading are isolated from normal streaming; after coeff_done, one input pair produces exactly L filtered output samples.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8435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66928" y="1572768"/>
            <a:ext cx="3566160" cy="2500079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7" name="Shape 3"/>
          <p:cNvSpPr/>
          <p:nvPr/>
        </p:nvSpPr>
        <p:spPr>
          <a:xfrm>
            <a:off x="795528" y="1783080"/>
            <a:ext cx="457200" cy="457200"/>
          </a:xfrm>
          <a:prstGeom prst="ellipse">
            <a:avLst/>
          </a:prstGeom>
          <a:solidFill>
            <a:srgbClr val="0FB2C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1952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89888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00987" y="2543302"/>
            <a:ext cx="3108960" cy="1352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Block-level and top-level simulation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MATLAB golden-model comparison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 err="1"/>
              <a:t>SystemVerilog</a:t>
            </a:r>
            <a:r>
              <a:rPr lang="en-US" sz="1150" dirty="0"/>
              <a:t> Assertions (SVA)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Functional coverage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Corner cases and mode transitions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Verdi waveforms</a:t>
            </a:r>
          </a:p>
          <a:p>
            <a:pPr>
              <a:lnSpc>
                <a:spcPct val="106000"/>
              </a:lnSpc>
            </a:pP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315968" y="1572768"/>
            <a:ext cx="3566160" cy="2500079"/>
          </a:xfrm>
          <a:prstGeom prst="roundRect">
            <a:avLst>
              <a:gd name="adj" fmla="val 3529"/>
            </a:avLst>
          </a:prstGeom>
          <a:solidFill>
            <a:srgbClr val="EAF3F6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7"/>
          <p:cNvSpPr/>
          <p:nvPr/>
        </p:nvSpPr>
        <p:spPr>
          <a:xfrm>
            <a:off x="4544568" y="1783080"/>
            <a:ext cx="457200" cy="457200"/>
          </a:xfrm>
          <a:prstGeom prst="ellipse">
            <a:avLst/>
          </a:prstGeom>
          <a:solidFill>
            <a:srgbClr val="0A7C8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90195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38928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572000" y="2331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1623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VC Formal on major RTL blocks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1150" dirty="0"/>
              <a:t>Assertions/properties proven mathematically</a:t>
            </a:r>
          </a:p>
        </p:txBody>
      </p:sp>
      <p:sp>
        <p:nvSpPr>
          <p:cNvPr id="16" name="Shape 10"/>
          <p:cNvSpPr/>
          <p:nvPr/>
        </p:nvSpPr>
        <p:spPr>
          <a:xfrm>
            <a:off x="8065008" y="1572768"/>
            <a:ext cx="3566160" cy="2500079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1"/>
          <p:cNvSpPr/>
          <p:nvPr/>
        </p:nvSpPr>
        <p:spPr>
          <a:xfrm>
            <a:off x="8293608" y="1783080"/>
            <a:ext cx="457200" cy="457200"/>
          </a:xfrm>
          <a:prstGeom prst="ellipse">
            <a:avLst/>
          </a:prstGeom>
          <a:solidFill>
            <a:srgbClr val="0FB2C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0195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87968" y="1810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 - equivalence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8321040" y="2331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Conformal: RTL ↔ synthesized netlist, and gate ↔ gate (top.v ↔ top_post_layout.v) before vs. after P&amp;R.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914400" y="4404911"/>
            <a:ext cx="9396056" cy="1737360"/>
          </a:xfrm>
          <a:prstGeom prst="roundRect">
            <a:avLst>
              <a:gd name="adj" fmla="val 4737"/>
            </a:avLst>
          </a:prstGeom>
          <a:solidFill>
            <a:srgbClr val="0E2148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15"/>
          <p:cNvSpPr/>
          <p:nvPr/>
        </p:nvSpPr>
        <p:spPr>
          <a:xfrm>
            <a:off x="1158240" y="4965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status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115824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4284F"/>
          </a:solidFill>
          <a:ln w="12700">
            <a:solidFill>
              <a:srgbClr val="2746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17"/>
          <p:cNvSpPr/>
          <p:nvPr/>
        </p:nvSpPr>
        <p:spPr>
          <a:xfrm>
            <a:off x="1304544" y="5486400"/>
            <a:ext cx="219456" cy="219456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836" y="5536692"/>
            <a:ext cx="118872" cy="1188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615440" y="5349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sim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339852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4284F"/>
          </a:solidFill>
          <a:ln w="12700">
            <a:solidFill>
              <a:srgbClr val="2746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0"/>
          <p:cNvSpPr/>
          <p:nvPr/>
        </p:nvSpPr>
        <p:spPr>
          <a:xfrm>
            <a:off x="3544824" y="5486400"/>
            <a:ext cx="219456" cy="219456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116" y="5536692"/>
            <a:ext cx="118872" cy="1188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855720" y="5349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(assertions)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63880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4284F"/>
          </a:solidFill>
          <a:ln w="12700">
            <a:solidFill>
              <a:srgbClr val="2746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23"/>
          <p:cNvSpPr/>
          <p:nvPr/>
        </p:nvSpPr>
        <p:spPr>
          <a:xfrm>
            <a:off x="5785104" y="5486400"/>
            <a:ext cx="219456" cy="219456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96" y="5536692"/>
            <a:ext cx="118872" cy="1188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096000" y="5349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Gate-level sim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7879080" y="53492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4284F"/>
          </a:solidFill>
          <a:ln w="12700">
            <a:solidFill>
              <a:srgbClr val="2746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26"/>
          <p:cNvSpPr/>
          <p:nvPr/>
        </p:nvSpPr>
        <p:spPr>
          <a:xfrm>
            <a:off x="8025384" y="5486400"/>
            <a:ext cx="219456" cy="219456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676" y="5536692"/>
            <a:ext cx="118872" cy="11887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336280" y="5349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 RTL↔gate</a:t>
            </a:r>
            <a:endParaRPr lang="en-US" sz="1050" dirty="0"/>
          </a:p>
        </p:txBody>
      </p:sp>
      <p:pic>
        <p:nvPicPr>
          <p:cNvPr id="40" name="tau_logo" descr="TA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5319" y="52283"/>
            <a:ext cx="2609198" cy="426529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450149" y="397594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Text 1"/>
          <p:cNvSpPr/>
          <p:nvPr/>
        </p:nvSpPr>
        <p:spPr>
          <a:xfrm>
            <a:off x="563880" y="901784"/>
            <a:ext cx="11064240" cy="40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400" kern="0" dirty="0">
                <a:solidFill>
                  <a:srgbClr val="5B6574"/>
                </a:solidFill>
              </a:rPr>
              <a:t> Functional, formal &amp; equivalence check  — done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Shape 4"/>
          <p:cNvSpPr/>
          <p:nvPr/>
        </p:nvSpPr>
        <p:spPr>
          <a:xfrm>
            <a:off x="472440" y="1238924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5"/>
          <p:cNvSpPr/>
          <p:nvPr/>
        </p:nvSpPr>
        <p:spPr>
          <a:xfrm>
            <a:off x="472440" y="1238924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34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563478" y="1019353"/>
            <a:ext cx="11057839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cs typeface="Arial" pitchFamily="34" charset="-120"/>
              </a:rPr>
              <a:t>MATLAB drives both paths; RTL must match the golden model bit-for-bit</a:t>
            </a:r>
          </a:p>
        </p:txBody>
      </p:sp>
      <p:sp>
        <p:nvSpPr>
          <p:cNvPr id="5" name="bx"/>
          <p:cNvSpPr/>
          <p:nvPr/>
        </p:nvSpPr>
        <p:spPr>
          <a:xfrm>
            <a:off x="1462156" y="1610000"/>
            <a:ext cx="2450000" cy="1070000"/>
          </a:xfrm>
          <a:prstGeom prst="roundRect">
            <a:avLst>
              <a:gd name="adj" fmla="val 8000"/>
            </a:avLst>
          </a:prstGeom>
          <a:solidFill>
            <a:srgbClr val="0E2148"/>
          </a:solidFill>
        </p:spPr>
        <p:txBody>
          <a:bodyPr wrap="square" lIns="90000" tIns="40000" rIns="90000" bIns="4000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MATLAB IQ tools</a:t>
            </a:r>
          </a:p>
          <a:p>
            <a:pPr marL="0" indent="0" algn="ctr">
              <a:buNone/>
            </a:pPr>
            <a:r>
              <a:rPr lang="en-US" sz="980" b="0" dirty="0">
                <a:solidFill>
                  <a:srgbClr val="D9E1EC"/>
                </a:solidFill>
                <a:latin typeface="Calibri" pitchFamily="34" charset="0"/>
              </a:rPr>
              <a:t>QAM I/Q +</a:t>
            </a:r>
          </a:p>
          <a:p>
            <a:pPr marL="0" indent="0" algn="ctr">
              <a:buNone/>
            </a:pPr>
            <a:r>
              <a:rPr lang="en-US" sz="980" b="0" dirty="0">
                <a:solidFill>
                  <a:srgbClr val="D9E1EC"/>
                </a:solidFill>
                <a:latin typeface="Calibri" pitchFamily="34" charset="0"/>
              </a:rPr>
              <a:t>FIRPM coeffs</a:t>
            </a:r>
          </a:p>
        </p:txBody>
      </p:sp>
      <p:sp>
        <p:nvSpPr>
          <p:cNvPr id="6" name="ar"/>
          <p:cNvSpPr/>
          <p:nvPr/>
        </p:nvSpPr>
        <p:spPr>
          <a:xfrm>
            <a:off x="3925228" y="1760000"/>
            <a:ext cx="540000" cy="19000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A7C8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r"/>
          <p:cNvSpPr/>
          <p:nvPr/>
        </p:nvSpPr>
        <p:spPr>
          <a:xfrm>
            <a:off x="3925228" y="2340000"/>
            <a:ext cx="540000" cy="19000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A7C8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bx"/>
          <p:cNvSpPr/>
          <p:nvPr/>
        </p:nvSpPr>
        <p:spPr>
          <a:xfrm>
            <a:off x="4515228" y="1610000"/>
            <a:ext cx="2680000" cy="480000"/>
          </a:xfrm>
          <a:prstGeom prst="roundRect">
            <a:avLst>
              <a:gd name="adj" fmla="val 8000"/>
            </a:avLst>
          </a:prstGeom>
          <a:solidFill>
            <a:srgbClr val="EAF3F6"/>
          </a:solidFill>
          <a:ln w="12700">
            <a:solidFill>
              <a:srgbClr val="0A7C8A"/>
            </a:solidFill>
          </a:ln>
        </p:spPr>
        <p:txBody>
          <a:bodyPr wrap="square" lIns="90000" tIns="40000" rIns="90000" bIns="4000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148"/>
                </a:solidFill>
                <a:latin typeface="Arial" pitchFamily="34" charset="0"/>
              </a:rPr>
              <a:t>Golden (fixed-point) model → </a:t>
            </a:r>
            <a:r>
              <a:rPr lang="en-US" sz="1200" b="1" dirty="0" smtClean="0">
                <a:solidFill>
                  <a:srgbClr val="0E2148"/>
                </a:solidFill>
                <a:latin typeface="Arial" pitchFamily="34" charset="0"/>
              </a:rPr>
              <a:t>Expected</a:t>
            </a:r>
            <a:endParaRPr lang="en-US" sz="1200" b="1" dirty="0">
              <a:solidFill>
                <a:srgbClr val="0E2148"/>
              </a:solidFill>
              <a:latin typeface="Arial" pitchFamily="34" charset="0"/>
            </a:endParaRPr>
          </a:p>
        </p:txBody>
      </p:sp>
      <p:sp>
        <p:nvSpPr>
          <p:cNvPr id="9" name="bx"/>
          <p:cNvSpPr/>
          <p:nvPr/>
        </p:nvSpPr>
        <p:spPr>
          <a:xfrm>
            <a:off x="4515228" y="2200000"/>
            <a:ext cx="2680000" cy="480000"/>
          </a:xfrm>
          <a:prstGeom prst="roundRect">
            <a:avLst>
              <a:gd name="adj" fmla="val 8000"/>
            </a:avLst>
          </a:prstGeom>
          <a:solidFill>
            <a:srgbClr val="EAF3F6"/>
          </a:solidFill>
          <a:ln w="12700">
            <a:solidFill>
              <a:srgbClr val="0A7C8A"/>
            </a:solidFill>
          </a:ln>
        </p:spPr>
        <p:txBody>
          <a:bodyPr wrap="square" lIns="90000" tIns="40000" rIns="90000" bIns="4000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148"/>
                </a:solidFill>
                <a:latin typeface="Arial" pitchFamily="34" charset="0"/>
              </a:rPr>
              <a:t>RTL / gate sim (VCS) → </a:t>
            </a:r>
            <a:r>
              <a:rPr lang="en-US" sz="1200" b="1" dirty="0" smtClean="0">
                <a:solidFill>
                  <a:srgbClr val="0E2148"/>
                </a:solidFill>
                <a:latin typeface="Arial" pitchFamily="34" charset="0"/>
              </a:rPr>
              <a:t>Actual</a:t>
            </a:r>
            <a:endParaRPr lang="en-US" sz="1200" b="1" dirty="0">
              <a:solidFill>
                <a:srgbClr val="0E2148"/>
              </a:solidFill>
              <a:latin typeface="Arial" pitchFamily="34" charset="0"/>
            </a:endParaRPr>
          </a:p>
        </p:txBody>
      </p:sp>
      <p:sp>
        <p:nvSpPr>
          <p:cNvPr id="10" name="ar"/>
          <p:cNvSpPr/>
          <p:nvPr/>
        </p:nvSpPr>
        <p:spPr>
          <a:xfrm>
            <a:off x="7255228" y="1760000"/>
            <a:ext cx="540000" cy="19000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A7C8A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r"/>
          <p:cNvSpPr/>
          <p:nvPr/>
        </p:nvSpPr>
        <p:spPr>
          <a:xfrm>
            <a:off x="7255228" y="2340000"/>
            <a:ext cx="540000" cy="19000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A7C8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bx"/>
          <p:cNvSpPr/>
          <p:nvPr/>
        </p:nvSpPr>
        <p:spPr>
          <a:xfrm>
            <a:off x="7845228" y="1610000"/>
            <a:ext cx="2450000" cy="1070000"/>
          </a:xfrm>
          <a:prstGeom prst="roundRect">
            <a:avLst>
              <a:gd name="adj" fmla="val 8000"/>
            </a:avLst>
          </a:prstGeom>
          <a:solidFill>
            <a:srgbClr val="0E2148"/>
          </a:solidFill>
        </p:spPr>
        <p:txBody>
          <a:bodyPr wrap="square" lIns="90000" tIns="40000" rIns="90000" bIns="4000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Compare</a:t>
            </a:r>
          </a:p>
          <a:p>
            <a:pPr marL="0" indent="0" algn="ctr">
              <a:buNone/>
            </a:pPr>
            <a:r>
              <a:rPr lang="en-US" sz="980" b="0" dirty="0">
                <a:solidFill>
                  <a:srgbClr val="D9E1EC"/>
                </a:solidFill>
                <a:latin typeface="Calibri" pitchFamily="34" charset="0"/>
              </a:rPr>
              <a:t>bit-exact</a:t>
            </a:r>
          </a:p>
          <a:p>
            <a:pPr marL="0" indent="0" algn="ctr">
              <a:buNone/>
            </a:pPr>
            <a:r>
              <a:rPr lang="en-US" sz="980" b="0" dirty="0">
                <a:solidFill>
                  <a:srgbClr val="D9E1EC"/>
                </a:solidFill>
                <a:latin typeface="Calibri" pitchFamily="34" charset="0"/>
              </a:rPr>
              <a:t>+ VSA / EVM</a:t>
            </a:r>
          </a:p>
        </p:txBody>
      </p:sp>
      <p:sp>
        <p:nvSpPr>
          <p:cNvPr id="13" name="lbl"/>
          <p:cNvSpPr/>
          <p:nvPr/>
        </p:nvSpPr>
        <p:spPr>
          <a:xfrm>
            <a:off x="708422" y="3191544"/>
            <a:ext cx="24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Regression — RTL vs golden</a:t>
            </a:r>
          </a:p>
        </p:txBody>
      </p:sp>
      <p:pic>
        <p:nvPicPr>
          <p:cNvPr id="14" name="reg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21544"/>
            <a:ext cx="2400000" cy="252695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15" name="lbl"/>
          <p:cNvSpPr/>
          <p:nvPr/>
        </p:nvSpPr>
        <p:spPr>
          <a:xfrm>
            <a:off x="4175796" y="3191544"/>
            <a:ext cx="2937092" cy="19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VSA / EVM cross-check (Keysight)</a:t>
            </a:r>
          </a:p>
        </p:txBody>
      </p:sp>
      <p:sp>
        <p:nvSpPr>
          <p:cNvPr id="17" name="res"/>
          <p:cNvSpPr/>
          <p:nvPr/>
        </p:nvSpPr>
        <p:spPr>
          <a:xfrm>
            <a:off x="7824643" y="4780272"/>
            <a:ext cx="3980000" cy="1248206"/>
          </a:xfrm>
          <a:prstGeom prst="roundRect">
            <a:avLst>
              <a:gd name="adj" fmla="val 5000"/>
            </a:avLst>
          </a:prstGeom>
          <a:solidFill>
            <a:srgbClr val="0E2148"/>
          </a:solidFill>
        </p:spPr>
        <p:txBody>
          <a:bodyPr wrap="square" lIns="180000" tIns="120000" rIns="180000" bIns="12000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0A7C8A"/>
                </a:solidFill>
                <a:latin typeface="Arial" pitchFamily="34" charset="0"/>
                <a:cs typeface="Arial" pitchFamily="34" charset="-120"/>
              </a:rPr>
              <a:t>30 / 30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segments — 0 mismatches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Bit-exact on every L = 2–5 case (QAM + corner tests).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pic>
        <p:nvPicPr>
          <p:cNvPr id="18" name="תמונה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722" y="3521544"/>
            <a:ext cx="4346127" cy="2526950"/>
          </a:xfrm>
          <a:prstGeom prst="rect">
            <a:avLst/>
          </a:prstGeom>
        </p:spPr>
      </p:pic>
      <p:pic>
        <p:nvPicPr>
          <p:cNvPr id="19" name="tau_logo" descr="TA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319" y="52283"/>
            <a:ext cx="2609198" cy="426529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14558" y="336663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Functional Verification –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GLS vs MATLAB</a:t>
            </a:r>
            <a:r>
              <a:rPr kumimoji="0" lang="en-US" i="0" u="none" strike="noStrike" kern="0" cap="none" spc="0" normalizeH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Golden Model  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Shape 4"/>
          <p:cNvSpPr/>
          <p:nvPr/>
        </p:nvSpPr>
        <p:spPr>
          <a:xfrm>
            <a:off x="514558" y="894135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5"/>
          <p:cNvSpPr/>
          <p:nvPr/>
        </p:nvSpPr>
        <p:spPr>
          <a:xfrm>
            <a:off x="514558" y="894135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3"/>
          <p:cNvSpPr/>
          <p:nvPr/>
        </p:nvSpPr>
        <p:spPr>
          <a:xfrm>
            <a:off x="7824643" y="3585680"/>
            <a:ext cx="3980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8D7E5"/>
            </a:solidFill>
            <a:prstDash val="solid"/>
          </a:ln>
          <a:effectLst>
            <a:outerShdw blurRad="12700" dist="50800" dir="2700000" algn="bl" rotWithShape="0">
              <a:srgbClr val="D9E5EF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24"/>
          <p:cNvSpPr/>
          <p:nvPr/>
        </p:nvSpPr>
        <p:spPr>
          <a:xfrm>
            <a:off x="7808652" y="3585680"/>
            <a:ext cx="73152" cy="1024128"/>
          </a:xfrm>
          <a:prstGeom prst="rect">
            <a:avLst/>
          </a:prstGeom>
          <a:solidFill>
            <a:srgbClr val="10B4C2"/>
          </a:solidFill>
          <a:ln w="12700">
            <a:solidFill>
              <a:srgbClr val="10B4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5"/>
          <p:cNvSpPr/>
          <p:nvPr/>
        </p:nvSpPr>
        <p:spPr>
          <a:xfrm>
            <a:off x="7938964" y="3807777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5B"/>
                </a:solidFill>
              </a:rPr>
              <a:t>Regression content</a:t>
            </a:r>
            <a:endParaRPr lang="en-US" sz="1350" dirty="0"/>
          </a:p>
        </p:txBody>
      </p:sp>
      <p:sp>
        <p:nvSpPr>
          <p:cNvPr id="27" name="Text 26"/>
          <p:cNvSpPr/>
          <p:nvPr/>
        </p:nvSpPr>
        <p:spPr>
          <a:xfrm>
            <a:off x="7938964" y="4079352"/>
            <a:ext cx="3931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674"/>
                </a:solidFill>
              </a:rPr>
              <a:t>L = 2,3,4,5 • all 12 mode transitions • reset/configuration scenarios • zero/DC/impulse/full-scale/saturation cases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2600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11</a:t>
            </a:fld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36814" y="2861816"/>
            <a:ext cx="11057839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Each block: directed SVA test, 100% functional coverage</a:t>
            </a:r>
          </a:p>
        </p:txBody>
      </p:sp>
      <p:sp>
        <p:nvSpPr>
          <p:cNvPr id="5" name="lbl_bt"/>
          <p:cNvSpPr/>
          <p:nvPr/>
        </p:nvSpPr>
        <p:spPr>
          <a:xfrm>
            <a:off x="436814" y="3297646"/>
            <a:ext cx="26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Block test – directed (SVA)</a:t>
            </a:r>
          </a:p>
        </p:txBody>
      </p:sp>
      <p:pic>
        <p:nvPicPr>
          <p:cNvPr id="6" name="bt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08" y="3478980"/>
            <a:ext cx="2330740" cy="2741477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7" name="cap_bt"/>
          <p:cNvSpPr/>
          <p:nvPr/>
        </p:nvSpPr>
        <p:spPr>
          <a:xfrm>
            <a:off x="456808" y="6240520"/>
            <a:ext cx="265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980" b="0" dirty="0">
                <a:solidFill>
                  <a:srgbClr val="16233B"/>
                </a:solidFill>
                <a:latin typeface="Calibri" pitchFamily="34" charset="0"/>
                <a:cs typeface="Calibri" pitchFamily="34" charset="-120"/>
              </a:rPr>
              <a:t>cfg block: reset, all L, timing — all PASS</a:t>
            </a:r>
          </a:p>
        </p:txBody>
      </p:sp>
      <p:sp>
        <p:nvSpPr>
          <p:cNvPr id="8" name="lbl_cov"/>
          <p:cNvSpPr/>
          <p:nvPr/>
        </p:nvSpPr>
        <p:spPr>
          <a:xfrm>
            <a:off x="3390733" y="3297646"/>
            <a:ext cx="51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Functional coverage (top level) — 100%</a:t>
            </a:r>
          </a:p>
        </p:txBody>
      </p:sp>
      <p:sp>
        <p:nvSpPr>
          <p:cNvPr id="9" name="explain"/>
          <p:cNvSpPr/>
          <p:nvPr/>
        </p:nvSpPr>
        <p:spPr>
          <a:xfrm>
            <a:off x="9452552" y="1136611"/>
            <a:ext cx="2226207" cy="5296841"/>
          </a:xfrm>
          <a:prstGeom prst="roundRect">
            <a:avLst>
              <a:gd name="adj" fmla="val 6000"/>
            </a:avLst>
          </a:prstGeom>
          <a:solidFill>
            <a:srgbClr val="0E2148"/>
          </a:solidFill>
        </p:spPr>
        <p:txBody>
          <a:bodyPr wrap="square" lIns="190000" tIns="60000" rIns="190000" bIns="60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What we check</a:t>
            </a:r>
          </a:p>
          <a:p>
            <a:pPr marL="0" indent="0" algn="l">
              <a:buNone/>
            </a:pPr>
            <a:endParaRPr lang="en-US" sz="13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endParaRPr lang="en-US" sz="13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60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600" b="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5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Assertion checks</a:t>
            </a:r>
          </a:p>
          <a:p>
            <a:r>
              <a:rPr lang="en-US" sz="105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Configuration stability • legal strobe behavior • no I/Q processing before </a:t>
            </a:r>
            <a:r>
              <a:rPr lang="en-US" sz="1050" dirty="0" err="1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coeff_done</a:t>
            </a:r>
            <a:r>
              <a:rPr lang="en-US" sz="105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 • phase range/progression • saturation behavior</a:t>
            </a:r>
          </a:p>
          <a:p>
            <a:pPr marL="0" indent="0" algn="l">
              <a:buNone/>
            </a:pPr>
            <a:endParaRPr lang="en-US" sz="1050" b="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5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Coverage targets:</a:t>
            </a:r>
          </a:p>
          <a:p>
            <a:endParaRPr lang="en-US" sz="105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5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L modes • ordered mode transitions • coefficient loading • reset behavior • interpolation phases • saturation/corner cases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groups driven to 100% (no dead bins).</a:t>
            </a:r>
          </a:p>
          <a:p>
            <a:pPr marL="0" indent="0" algn="l">
              <a:buNone/>
            </a:pPr>
            <a:r>
              <a:rPr lang="en-US" sz="40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endParaRPr lang="en-US" sz="1000" b="0" dirty="0">
              <a:solidFill>
                <a:srgbClr val="6B7A90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0" name="tau_logo" descr="T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000" y="68133"/>
            <a:ext cx="2150000" cy="35146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09842" y="77880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Functional </a:t>
            </a:r>
            <a:r>
              <a:rPr lang="en-US" sz="2400" b="1" kern="0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–    </a:t>
            </a:r>
            <a:r>
              <a:rPr lang="en-US" sz="1600" kern="0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WAVES  · BLOCK TEST · COVERAGE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09842" y="635352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5"/>
          <p:cNvSpPr/>
          <p:nvPr/>
        </p:nvSpPr>
        <p:spPr>
          <a:xfrm>
            <a:off x="309842" y="635352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" name="תמונה 13"/>
          <p:cNvPicPr/>
          <p:nvPr/>
        </p:nvPicPr>
        <p:blipFill>
          <a:blip r:embed="rId4"/>
          <a:stretch>
            <a:fillRect/>
          </a:stretch>
        </p:blipFill>
        <p:spPr>
          <a:xfrm>
            <a:off x="401370" y="1085887"/>
            <a:ext cx="8788548" cy="1861225"/>
          </a:xfrm>
          <a:prstGeom prst="rect">
            <a:avLst/>
          </a:prstGeom>
        </p:spPr>
      </p:pic>
      <p:sp>
        <p:nvSpPr>
          <p:cNvPr id="15" name="lbl0"/>
          <p:cNvSpPr/>
          <p:nvPr/>
        </p:nvSpPr>
        <p:spPr>
          <a:xfrm>
            <a:off x="566929" y="866318"/>
            <a:ext cx="4800000" cy="2702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6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Waves</a:t>
            </a:r>
            <a:r>
              <a:rPr lang="en-US" sz="11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 :  L = 3  ·  three samples y0–y2 per word·  DAC out 180 MHz</a:t>
            </a:r>
          </a:p>
        </p:txBody>
      </p:sp>
      <p:pic>
        <p:nvPicPr>
          <p:cNvPr id="16" name="תמונה 15"/>
          <p:cNvPicPr/>
          <p:nvPr/>
        </p:nvPicPr>
        <p:blipFill>
          <a:blip r:embed="rId5"/>
          <a:stretch>
            <a:fillRect/>
          </a:stretch>
        </p:blipFill>
        <p:spPr>
          <a:xfrm>
            <a:off x="3369442" y="3500469"/>
            <a:ext cx="5943600" cy="30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3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lbl_fpv"/>
          <p:cNvSpPr/>
          <p:nvPr/>
        </p:nvSpPr>
        <p:spPr>
          <a:xfrm>
            <a:off x="692897" y="1226922"/>
            <a:ext cx="51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Formal (VC Formal, FPV) –</a:t>
            </a:r>
            <a:r>
              <a:rPr lang="en-US" sz="1100" b="1" dirty="0" err="1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spi_i</a:t>
            </a:r>
            <a:r>
              <a:rPr lang="en-US" sz="11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 block</a:t>
            </a:r>
          </a:p>
        </p:txBody>
      </p:sp>
      <p:sp>
        <p:nvSpPr>
          <p:cNvPr id="7" name="Shape 12"/>
          <p:cNvSpPr/>
          <p:nvPr/>
        </p:nvSpPr>
        <p:spPr>
          <a:xfrm>
            <a:off x="692898" y="4815312"/>
            <a:ext cx="5519973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8D7E5"/>
            </a:solidFill>
            <a:prstDash val="solid"/>
          </a:ln>
          <a:effectLst>
            <a:outerShdw blurRad="12700" dist="50800" dir="2700000" algn="bl" rotWithShape="0">
              <a:srgbClr val="D9E5EF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13"/>
          <p:cNvSpPr/>
          <p:nvPr/>
        </p:nvSpPr>
        <p:spPr>
          <a:xfrm>
            <a:off x="692899" y="4815312"/>
            <a:ext cx="73152" cy="1325880"/>
          </a:xfrm>
          <a:prstGeom prst="rect">
            <a:avLst/>
          </a:prstGeom>
          <a:solidFill>
            <a:srgbClr val="10B4C2"/>
          </a:solidFill>
          <a:ln w="12700">
            <a:solidFill>
              <a:srgbClr val="10B4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14"/>
          <p:cNvSpPr/>
          <p:nvPr/>
        </p:nvSpPr>
        <p:spPr>
          <a:xfrm>
            <a:off x="921499" y="49524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5B"/>
                </a:solidFill>
              </a:rPr>
              <a:t>What formal checked</a:t>
            </a:r>
            <a:endParaRPr lang="en-US" sz="1350" dirty="0"/>
          </a:p>
        </p:txBody>
      </p:sp>
      <p:sp>
        <p:nvSpPr>
          <p:cNvPr id="10" name="Text 15"/>
          <p:cNvSpPr/>
          <p:nvPr/>
        </p:nvSpPr>
        <p:spPr>
          <a:xfrm>
            <a:off x="921499" y="5290800"/>
            <a:ext cx="529137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Configuration logic • SPI word modes • history/window state • MINAJ2 arithmetic bounds • Sample Shift phase behavior • FIR coefficient/control behavior</a:t>
            </a:r>
          </a:p>
        </p:txBody>
      </p:sp>
      <p:pic>
        <p:nvPicPr>
          <p:cNvPr id="11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000" y="68133"/>
            <a:ext cx="2150000" cy="35146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19622" y="344657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Formal </a:t>
            </a:r>
            <a:r>
              <a:rPr lang="en-US" sz="2400" b="1" kern="0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Shape 4"/>
          <p:cNvSpPr/>
          <p:nvPr/>
        </p:nvSpPr>
        <p:spPr>
          <a:xfrm>
            <a:off x="419622" y="1053806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5"/>
          <p:cNvSpPr/>
          <p:nvPr/>
        </p:nvSpPr>
        <p:spPr>
          <a:xfrm>
            <a:off x="419622" y="1053806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lbl_fpv"/>
          <p:cNvSpPr/>
          <p:nvPr/>
        </p:nvSpPr>
        <p:spPr>
          <a:xfrm>
            <a:off x="7677413" y="1156329"/>
            <a:ext cx="2295078" cy="21086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Spi_i</a:t>
            </a:r>
            <a:r>
              <a:rPr lang="en-US" sz="11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  block- formal results</a:t>
            </a:r>
          </a:p>
        </p:txBody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413" y="1442960"/>
            <a:ext cx="2011105" cy="4728855"/>
          </a:xfrm>
          <a:prstGeom prst="rect">
            <a:avLst/>
          </a:prstGeom>
          <a:ln>
            <a:solidFill>
              <a:srgbClr val="0A2E5C"/>
            </a:solidFill>
          </a:ln>
        </p:spPr>
      </p:pic>
      <p:sp>
        <p:nvSpPr>
          <p:cNvPr id="19" name="explain"/>
          <p:cNvSpPr/>
          <p:nvPr/>
        </p:nvSpPr>
        <p:spPr>
          <a:xfrm>
            <a:off x="9781176" y="1388053"/>
            <a:ext cx="2202614" cy="4753139"/>
          </a:xfrm>
          <a:prstGeom prst="roundRect">
            <a:avLst>
              <a:gd name="adj" fmla="val 6000"/>
            </a:avLst>
          </a:prstGeom>
          <a:solidFill>
            <a:srgbClr val="0E2148"/>
          </a:solidFill>
        </p:spPr>
        <p:txBody>
          <a:bodyPr wrap="square" lIns="190000" tIns="60000" rIns="190000" bIns="60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Results</a:t>
            </a:r>
            <a:r>
              <a:rPr lang="en-US" sz="13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endParaRPr lang="en-US" sz="1200" b="1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RTL blocks formally verified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123 assertions analyzed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118 assertions proven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5 assertions vacuous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0 failed assertions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38/38 cover properties reached</a:t>
            </a:r>
          </a:p>
          <a:p>
            <a:endParaRPr lang="en-US" sz="1050" dirty="0" smtClean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endParaRPr lang="en-US" sz="1050" dirty="0" smtClean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endParaRPr lang="en-US" sz="1050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05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Vacuous properties:</a:t>
            </a:r>
          </a:p>
          <a:p>
            <a:r>
              <a:rPr lang="en-US" sz="1050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The 5 vacuous assertions were reset-related properties whose triggering conditions did not occur under the formal constraints used in those runs. They were therefore classified as vacuous rather than failed.</a:t>
            </a:r>
            <a:endParaRPr lang="en-US" sz="800" dirty="0">
              <a:solidFill>
                <a:schemeClr val="bg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50" dirty="0">
              <a:solidFill>
                <a:srgbClr val="D9E1E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19622" y="652519"/>
            <a:ext cx="11064240" cy="40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400" kern="0" dirty="0">
                <a:solidFill>
                  <a:srgbClr val="5B6574"/>
                </a:solidFill>
              </a:rPr>
              <a:t>Block-level formal verification of key RTL modules using assertions and cover properties.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2" name="תמונה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7" y="1476918"/>
            <a:ext cx="7392188" cy="323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>
          <a:xfrm>
            <a:off x="7648976" y="5307625"/>
            <a:ext cx="2743200" cy="365125"/>
          </a:xfrm>
        </p:spPr>
        <p:txBody>
          <a:bodyPr/>
          <a:lstStyle/>
          <a:p>
            <a:fld id="{397A11E8-8F25-49C3-8F7D-865FECFDFD18}" type="slidenum">
              <a:rPr lang="en-US" smtClean="0"/>
              <a:t>13</a:t>
            </a:fld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838200" y="1216523"/>
            <a:ext cx="5295498" cy="308833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3"/>
          <p:cNvSpPr/>
          <p:nvPr/>
        </p:nvSpPr>
        <p:spPr>
          <a:xfrm>
            <a:off x="1009826" y="1310832"/>
            <a:ext cx="365760" cy="365760"/>
          </a:xfrm>
          <a:prstGeom prst="ellipse">
            <a:avLst/>
          </a:prstGeom>
          <a:solidFill>
            <a:srgbClr val="0E2148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" y="1398363"/>
            <a:ext cx="175565" cy="1755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85314" y="127791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SDC (real values)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028114" y="183244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2308274" y="1786419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1.0417 ns (960 MHz), 50% duty</a:t>
            </a:r>
          </a:p>
          <a:p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:0.05 ns</a:t>
            </a:r>
          </a:p>
          <a:p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transition : 0.20 ns</a:t>
            </a:r>
          </a:p>
          <a:p>
            <a:endParaRPr lang="en-US" sz="1100" dirty="0">
              <a:solidFill>
                <a:srgbClr val="1623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1623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028114" y="242680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timing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2353994" y="2426801"/>
            <a:ext cx="17780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delay 0.1 ns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28114" y="3021161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Multicycle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2353994" y="3021161"/>
            <a:ext cx="2640846" cy="41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Word-rate </a:t>
            </a:r>
            <a:r>
              <a:rPr lang="en-US" sz="1100" dirty="0" err="1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regs</a:t>
            </a:r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 -15 </a:t>
            </a:r>
            <a:r>
              <a:rPr lang="en-US" sz="1100" dirty="0" err="1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cyc</a:t>
            </a:r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 setup / 14 </a:t>
            </a:r>
            <a:r>
              <a:rPr lang="en-US" sz="1100" dirty="0" err="1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cyc</a:t>
            </a:r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 hold </a:t>
            </a:r>
          </a:p>
          <a:p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FIR MAC </a:t>
            </a:r>
            <a:r>
              <a:rPr lang="en-US" sz="1100" dirty="0" err="1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regs</a:t>
            </a:r>
            <a:r>
              <a:rPr lang="en-US" sz="1100" dirty="0">
                <a:solidFill>
                  <a:srgbClr val="16233B"/>
                </a:solidFill>
                <a:ea typeface="Courier New" pitchFamily="34" charset="-122"/>
                <a:cs typeface="Courier New" pitchFamily="34" charset="-120"/>
              </a:rPr>
              <a:t> -3 cycles setup / 2 cycles hold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82394" y="3572849"/>
            <a:ext cx="1097280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Gating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280842" y="3557784"/>
            <a:ext cx="3106674" cy="18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Latch-based clock gating, minimum bit-width 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005991" y="4005328"/>
            <a:ext cx="1371600" cy="27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2280842" y="3954150"/>
            <a:ext cx="3328416" cy="27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HVT-first for leakage; LVT only where timing needs it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8200" y="4376262"/>
            <a:ext cx="5295498" cy="1980087"/>
          </a:xfrm>
          <a:prstGeom prst="roundRect">
            <a:avLst>
              <a:gd name="adj" fmla="val 3273"/>
            </a:avLst>
          </a:prstGeom>
          <a:solidFill>
            <a:srgbClr val="EAF3F6"/>
          </a:solidFill>
          <a:ln w="12700">
            <a:solidFill>
              <a:srgbClr val="D9E1EC"/>
            </a:solidFill>
            <a:prstDash val="solid"/>
          </a:ln>
          <a:effectLst>
            <a:outerShdw blurRad="114300" dist="38100" dir="5400000" algn="bl" rotWithShape="0">
              <a:srgbClr val="0B1B33">
                <a:alpha val="1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Shape 23"/>
          <p:cNvSpPr/>
          <p:nvPr/>
        </p:nvSpPr>
        <p:spPr>
          <a:xfrm>
            <a:off x="906272" y="4559143"/>
            <a:ext cx="365760" cy="299976"/>
          </a:xfrm>
          <a:prstGeom prst="ellipse">
            <a:avLst/>
          </a:prstGeom>
          <a:solidFill>
            <a:srgbClr val="0A7C8A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9" y="4604036"/>
            <a:ext cx="175565" cy="17556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81760" y="4540855"/>
            <a:ext cx="4096512" cy="329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Multicycle path — the key move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06272" y="4856469"/>
            <a:ext cx="4572000" cy="1499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10-tap MAC is the deepest combinational cloud, but its result is only sampled every ≥3 clocks (shift_strobe).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multicycle groups: 15/14-cycle on the interpolator &amp; window-latch regs (they update once per ~15-16-clock word), and 3/2-cycle on the  FIR y-regs.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then avoids over-sizing: smaller, HVT-heavy MAC → lower area &amp; power at the same function.</a:t>
            </a:r>
            <a:endParaRPr lang="en-US" sz="1050" dirty="0"/>
          </a:p>
        </p:txBody>
      </p:sp>
      <p:pic>
        <p:nvPicPr>
          <p:cNvPr id="35" name="tau_logo" descr="TA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000" y="60460"/>
            <a:ext cx="2150000" cy="351463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1009826" y="2731157"/>
            <a:ext cx="1097280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load</a:t>
            </a:r>
            <a:endParaRPr lang="en-US" sz="1150" dirty="0"/>
          </a:p>
        </p:txBody>
      </p:sp>
      <p:sp>
        <p:nvSpPr>
          <p:cNvPr id="46" name="Text 9"/>
          <p:cNvSpPr/>
          <p:nvPr/>
        </p:nvSpPr>
        <p:spPr>
          <a:xfrm>
            <a:off x="2308274" y="2719408"/>
            <a:ext cx="17780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pF</a:t>
            </a:r>
            <a:endParaRPr lang="en-US" sz="1100" dirty="0"/>
          </a:p>
        </p:txBody>
      </p:sp>
      <p:sp>
        <p:nvSpPr>
          <p:cNvPr id="48" name="Shape 13"/>
          <p:cNvSpPr/>
          <p:nvPr/>
        </p:nvSpPr>
        <p:spPr>
          <a:xfrm flipV="1">
            <a:off x="1009826" y="3869861"/>
            <a:ext cx="4251960" cy="38267"/>
          </a:xfrm>
          <a:prstGeom prst="line">
            <a:avLst/>
          </a:prstGeom>
          <a:noFill/>
          <a:ln w="952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7" name="Shape 13"/>
          <p:cNvSpPr/>
          <p:nvPr/>
        </p:nvSpPr>
        <p:spPr>
          <a:xfrm flipV="1">
            <a:off x="1009826" y="3437382"/>
            <a:ext cx="4251960" cy="38267"/>
          </a:xfrm>
          <a:prstGeom prst="line">
            <a:avLst/>
          </a:prstGeom>
          <a:noFill/>
          <a:ln w="952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13"/>
          <p:cNvSpPr/>
          <p:nvPr/>
        </p:nvSpPr>
        <p:spPr>
          <a:xfrm flipV="1">
            <a:off x="982394" y="2639148"/>
            <a:ext cx="4251960" cy="38267"/>
          </a:xfrm>
          <a:prstGeom prst="line">
            <a:avLst/>
          </a:prstGeom>
          <a:noFill/>
          <a:ln w="952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13"/>
          <p:cNvSpPr/>
          <p:nvPr/>
        </p:nvSpPr>
        <p:spPr>
          <a:xfrm flipV="1">
            <a:off x="1021256" y="2974972"/>
            <a:ext cx="4251960" cy="38267"/>
          </a:xfrm>
          <a:prstGeom prst="line">
            <a:avLst/>
          </a:prstGeom>
          <a:noFill/>
          <a:ln w="952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Shape 13"/>
          <p:cNvSpPr/>
          <p:nvPr/>
        </p:nvSpPr>
        <p:spPr>
          <a:xfrm flipV="1">
            <a:off x="982394" y="2307189"/>
            <a:ext cx="4251960" cy="38267"/>
          </a:xfrm>
          <a:prstGeom prst="line">
            <a:avLst/>
          </a:prstGeom>
          <a:noFill/>
          <a:ln w="952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1" name="lbl"/>
          <p:cNvSpPr/>
          <p:nvPr/>
        </p:nvSpPr>
        <p:spPr>
          <a:xfrm>
            <a:off x="6676996" y="1196113"/>
            <a:ext cx="34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Top-level block</a:t>
            </a:r>
          </a:p>
        </p:txBody>
      </p:sp>
      <p:pic>
        <p:nvPicPr>
          <p:cNvPr id="62" name="sc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996" y="1432848"/>
            <a:ext cx="4088472" cy="2532671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63" name="lbl"/>
          <p:cNvSpPr/>
          <p:nvPr/>
        </p:nvSpPr>
        <p:spPr>
          <a:xfrm>
            <a:off x="6676996" y="4134270"/>
            <a:ext cx="39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Synthesized gate netlist</a:t>
            </a:r>
          </a:p>
        </p:txBody>
      </p:sp>
      <p:pic>
        <p:nvPicPr>
          <p:cNvPr id="64" name="ne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996" y="4351597"/>
            <a:ext cx="4110371" cy="2004752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65" name="Text 0"/>
          <p:cNvSpPr/>
          <p:nvPr/>
        </p:nvSpPr>
        <p:spPr>
          <a:xfrm>
            <a:off x="504175" y="182580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 (Synopsys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DC)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Shape 4"/>
          <p:cNvSpPr/>
          <p:nvPr/>
        </p:nvSpPr>
        <p:spPr>
          <a:xfrm>
            <a:off x="504175" y="906247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7" name="Shape 5"/>
          <p:cNvSpPr/>
          <p:nvPr/>
        </p:nvSpPr>
        <p:spPr>
          <a:xfrm>
            <a:off x="504175" y="906247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Text 1"/>
          <p:cNvSpPr/>
          <p:nvPr/>
        </p:nvSpPr>
        <p:spPr>
          <a:xfrm>
            <a:off x="504175" y="558846"/>
            <a:ext cx="11064240" cy="40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400" kern="0" dirty="0">
                <a:solidFill>
                  <a:srgbClr val="5B6574"/>
                </a:solidFill>
              </a:rPr>
              <a:t> High-frequency synthesis with multicycle constraints, clock gating, and technology mapping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מציין מיקום של מספר שקופית 2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394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14</a:t>
            </a:fld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566928" y="794990"/>
            <a:ext cx="11057839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cs typeface="Arial" pitchFamily="34" charset="-120"/>
              </a:rPr>
              <a:t>RTL golden vs synthesized netlist — all points mapped and proven equivalent</a:t>
            </a:r>
          </a:p>
        </p:txBody>
      </p:sp>
      <p:sp>
        <p:nvSpPr>
          <p:cNvPr id="6" name="lbl"/>
          <p:cNvSpPr/>
          <p:nvPr/>
        </p:nvSpPr>
        <p:spPr>
          <a:xfrm>
            <a:off x="566928" y="1241463"/>
            <a:ext cx="53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Golden (RTL) vs Revised (netlist)</a:t>
            </a:r>
          </a:p>
        </p:txBody>
      </p:sp>
      <p:pic>
        <p:nvPicPr>
          <p:cNvPr id="7" name="tree" descr="preencoded.png"/>
          <p:cNvPicPr>
            <a:picLocks noChangeAspect="1"/>
          </p:cNvPicPr>
          <p:nvPr/>
        </p:nvPicPr>
        <p:blipFill rotWithShape="1">
          <a:blip r:embed="rId2"/>
          <a:srcRect b="15957"/>
          <a:stretch/>
        </p:blipFill>
        <p:spPr>
          <a:xfrm>
            <a:off x="566928" y="1441463"/>
            <a:ext cx="5300000" cy="2249833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8" name="lbl"/>
          <p:cNvSpPr/>
          <p:nvPr/>
        </p:nvSpPr>
        <p:spPr>
          <a:xfrm>
            <a:off x="6100000" y="1241463"/>
            <a:ext cx="26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Compared points — 669</a:t>
            </a:r>
          </a:p>
        </p:txBody>
      </p:sp>
      <p:pic>
        <p:nvPicPr>
          <p:cNvPr id="9" name="cmp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1441463"/>
            <a:ext cx="2650000" cy="254800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10" name="lbl"/>
          <p:cNvSpPr/>
          <p:nvPr/>
        </p:nvSpPr>
        <p:spPr>
          <a:xfrm>
            <a:off x="8950000" y="1241463"/>
            <a:ext cx="26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Verification Report</a:t>
            </a:r>
          </a:p>
        </p:txBody>
      </p:sp>
      <p:pic>
        <p:nvPicPr>
          <p:cNvPr id="11" name="v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0000" y="1441463"/>
            <a:ext cx="2660000" cy="119800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12" name="res"/>
          <p:cNvSpPr/>
          <p:nvPr/>
        </p:nvSpPr>
        <p:spPr>
          <a:xfrm>
            <a:off x="571080" y="4355888"/>
            <a:ext cx="11057839" cy="1604923"/>
          </a:xfrm>
          <a:prstGeom prst="roundRect">
            <a:avLst>
              <a:gd name="adj" fmla="val 5000"/>
            </a:avLst>
          </a:prstGeom>
          <a:solidFill>
            <a:srgbClr val="0E2148"/>
          </a:solidFill>
        </p:spPr>
        <p:txBody>
          <a:bodyPr wrap="square" lIns="180000" tIns="120000" rIns="180000" bIns="12000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669 compared points — all equivalent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32 primary outputs + 633 DFFs + 4 black-boxes;  Golden = Revised.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b="0" dirty="0">
                <a:solidFill>
                  <a:srgbClr val="D9E1EC"/>
                </a:solidFill>
                <a:latin typeface="Calibri" pitchFamily="34" charset="0"/>
                <a:cs typeface="Calibri" pitchFamily="34" charset="-120"/>
              </a:rPr>
              <a:t>Verification Report: PASS — 0 non-standard options · 0 incomplete · 0 ambiguity · 0 aborts.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Synthesized netlist proven equivalent to the RTL.</a:t>
            </a:r>
          </a:p>
        </p:txBody>
      </p:sp>
      <p:pic>
        <p:nvPicPr>
          <p:cNvPr id="13" name="tau_logo" descr="T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20978"/>
            <a:ext cx="2150000" cy="351463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160" y="248414"/>
            <a:ext cx="10259568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2400" b="1" kern="0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LOGICAL EQUIVALENCE –LEC </a:t>
            </a:r>
            <a:r>
              <a:rPr lang="en-US" sz="1600" b="1" kern="0" dirty="0">
                <a:solidFill>
                  <a:srgbClr val="0A2A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(CADENCE CONFORMAL)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A2A55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Shape 4"/>
          <p:cNvSpPr/>
          <p:nvPr/>
        </p:nvSpPr>
        <p:spPr>
          <a:xfrm>
            <a:off x="545760" y="784706"/>
            <a:ext cx="11155680" cy="0"/>
          </a:xfrm>
          <a:prstGeom prst="line">
            <a:avLst/>
          </a:prstGeom>
          <a:noFill/>
          <a:ln w="1397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5"/>
          <p:cNvSpPr/>
          <p:nvPr/>
        </p:nvSpPr>
        <p:spPr>
          <a:xfrm>
            <a:off x="545760" y="784706"/>
            <a:ext cx="2011680" cy="0"/>
          </a:xfrm>
          <a:prstGeom prst="line">
            <a:avLst/>
          </a:prstGeom>
          <a:noFill/>
          <a:ln w="40640">
            <a:solidFill>
              <a:srgbClr val="0798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7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15</a:t>
            </a:fld>
            <a:endParaRPr lang="en-US" dirty="0"/>
          </a:p>
        </p:txBody>
      </p:sp>
      <p:pic>
        <p:nvPicPr>
          <p:cNvPr id="9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76916"/>
            <a:ext cx="2150000" cy="351463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11480" y="850392"/>
            <a:ext cx="10332720" cy="0"/>
          </a:xfrm>
          <a:prstGeom prst="line">
            <a:avLst/>
          </a:prstGeom>
          <a:noFill/>
          <a:ln w="7620">
            <a:solidFill>
              <a:srgbClr val="D9E4E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0"/>
          <p:cNvSpPr/>
          <p:nvPr/>
        </p:nvSpPr>
        <p:spPr>
          <a:xfrm>
            <a:off x="41148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Design (Cadence Innovus)</a:t>
            </a:r>
            <a:endParaRPr lang="en-US" sz="2400" dirty="0"/>
          </a:p>
        </p:txBody>
      </p:sp>
      <p:sp>
        <p:nvSpPr>
          <p:cNvPr id="12" name="Text 1"/>
          <p:cNvSpPr/>
          <p:nvPr/>
        </p:nvSpPr>
        <p:spPr>
          <a:xfrm>
            <a:off x="420624" y="5669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synthesized netlist to routed and extracted pad-level ASIC implementation</a:t>
            </a:r>
            <a:endParaRPr lang="en-US" sz="1350" dirty="0"/>
          </a:p>
        </p:txBody>
      </p:sp>
      <p:sp>
        <p:nvSpPr>
          <p:cNvPr id="13" name="Shape 2"/>
          <p:cNvSpPr/>
          <p:nvPr/>
        </p:nvSpPr>
        <p:spPr>
          <a:xfrm>
            <a:off x="411480" y="850392"/>
            <a:ext cx="1600200" cy="0"/>
          </a:xfrm>
          <a:prstGeom prst="line">
            <a:avLst/>
          </a:prstGeom>
          <a:noFill/>
          <a:ln w="3175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4"/>
          <p:cNvSpPr/>
          <p:nvPr/>
        </p:nvSpPr>
        <p:spPr>
          <a:xfrm>
            <a:off x="530352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5"/>
          <p:cNvSpPr/>
          <p:nvPr/>
        </p:nvSpPr>
        <p:spPr>
          <a:xfrm>
            <a:off x="603504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Floorplan</a:t>
            </a:r>
            <a:endParaRPr lang="en-US" sz="1080" dirty="0"/>
          </a:p>
        </p:txBody>
      </p:sp>
      <p:sp>
        <p:nvSpPr>
          <p:cNvPr id="16" name="Text 6"/>
          <p:cNvSpPr/>
          <p:nvPr/>
        </p:nvSpPr>
        <p:spPr>
          <a:xfrm>
            <a:off x="603504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· core · pads</a:t>
            </a:r>
            <a:endParaRPr lang="en-US" sz="640" dirty="0"/>
          </a:p>
        </p:txBody>
      </p:sp>
      <p:sp>
        <p:nvSpPr>
          <p:cNvPr id="17" name="Shape 7"/>
          <p:cNvSpPr/>
          <p:nvPr/>
        </p:nvSpPr>
        <p:spPr>
          <a:xfrm>
            <a:off x="1847088" y="1449324"/>
            <a:ext cx="146304" cy="109728"/>
          </a:xfrm>
          <a:prstGeom prst="chevron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8"/>
          <p:cNvSpPr/>
          <p:nvPr/>
        </p:nvSpPr>
        <p:spPr>
          <a:xfrm>
            <a:off x="2011680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Text 9"/>
          <p:cNvSpPr/>
          <p:nvPr/>
        </p:nvSpPr>
        <p:spPr>
          <a:xfrm>
            <a:off x="2084832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Plan</a:t>
            </a:r>
            <a:endParaRPr lang="en-US" sz="1080" dirty="0"/>
          </a:p>
        </p:txBody>
      </p:sp>
      <p:sp>
        <p:nvSpPr>
          <p:cNvPr id="20" name="Text 10"/>
          <p:cNvSpPr/>
          <p:nvPr/>
        </p:nvSpPr>
        <p:spPr>
          <a:xfrm>
            <a:off x="2084832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Rings · stripes</a:t>
            </a:r>
            <a:endParaRPr lang="en-US" sz="640" dirty="0"/>
          </a:p>
        </p:txBody>
      </p:sp>
      <p:sp>
        <p:nvSpPr>
          <p:cNvPr id="21" name="Shape 11"/>
          <p:cNvSpPr/>
          <p:nvPr/>
        </p:nvSpPr>
        <p:spPr>
          <a:xfrm>
            <a:off x="3328416" y="1449324"/>
            <a:ext cx="146304" cy="109728"/>
          </a:xfrm>
          <a:prstGeom prst="chevron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2"/>
          <p:cNvSpPr/>
          <p:nvPr/>
        </p:nvSpPr>
        <p:spPr>
          <a:xfrm>
            <a:off x="3493008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13"/>
          <p:cNvSpPr/>
          <p:nvPr/>
        </p:nvSpPr>
        <p:spPr>
          <a:xfrm>
            <a:off x="3566160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</a:t>
            </a:r>
            <a:endParaRPr lang="en-US" sz="1080" dirty="0"/>
          </a:p>
        </p:txBody>
      </p:sp>
      <p:sp>
        <p:nvSpPr>
          <p:cNvPr id="24" name="Text 14"/>
          <p:cNvSpPr/>
          <p:nvPr/>
        </p:nvSpPr>
        <p:spPr>
          <a:xfrm>
            <a:off x="3566160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· congestion</a:t>
            </a:r>
            <a:endParaRPr lang="en-US" sz="640" dirty="0"/>
          </a:p>
        </p:txBody>
      </p:sp>
      <p:sp>
        <p:nvSpPr>
          <p:cNvPr id="25" name="Shape 15"/>
          <p:cNvSpPr/>
          <p:nvPr/>
        </p:nvSpPr>
        <p:spPr>
          <a:xfrm>
            <a:off x="4809744" y="1449324"/>
            <a:ext cx="146304" cy="109728"/>
          </a:xfrm>
          <a:prstGeom prst="chevron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16"/>
          <p:cNvSpPr/>
          <p:nvPr/>
        </p:nvSpPr>
        <p:spPr>
          <a:xfrm>
            <a:off x="4974336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7" name="Text 17"/>
          <p:cNvSpPr/>
          <p:nvPr/>
        </p:nvSpPr>
        <p:spPr>
          <a:xfrm>
            <a:off x="5047488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</a:t>
            </a:r>
            <a:endParaRPr lang="en-US" sz="1080" dirty="0"/>
          </a:p>
        </p:txBody>
      </p:sp>
      <p:sp>
        <p:nvSpPr>
          <p:cNvPr id="28" name="Text 18"/>
          <p:cNvSpPr/>
          <p:nvPr/>
        </p:nvSpPr>
        <p:spPr>
          <a:xfrm>
            <a:off x="5047488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 tree</a:t>
            </a:r>
            <a:endParaRPr lang="en-US" sz="640" dirty="0"/>
          </a:p>
        </p:txBody>
      </p:sp>
      <p:sp>
        <p:nvSpPr>
          <p:cNvPr id="29" name="Shape 19"/>
          <p:cNvSpPr/>
          <p:nvPr/>
        </p:nvSpPr>
        <p:spPr>
          <a:xfrm>
            <a:off x="6291072" y="1449324"/>
            <a:ext cx="146304" cy="109728"/>
          </a:xfrm>
          <a:prstGeom prst="chevron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0"/>
          <p:cNvSpPr/>
          <p:nvPr/>
        </p:nvSpPr>
        <p:spPr>
          <a:xfrm>
            <a:off x="6455664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Text 21"/>
          <p:cNvSpPr/>
          <p:nvPr/>
        </p:nvSpPr>
        <p:spPr>
          <a:xfrm>
            <a:off x="6528816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080" dirty="0"/>
          </a:p>
        </p:txBody>
      </p:sp>
      <p:sp>
        <p:nvSpPr>
          <p:cNvPr id="32" name="Text 22"/>
          <p:cNvSpPr/>
          <p:nvPr/>
        </p:nvSpPr>
        <p:spPr>
          <a:xfrm>
            <a:off x="6528816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· SI · ECO</a:t>
            </a:r>
            <a:endParaRPr lang="en-US" sz="640" dirty="0"/>
          </a:p>
        </p:txBody>
      </p:sp>
      <p:sp>
        <p:nvSpPr>
          <p:cNvPr id="33" name="Shape 23"/>
          <p:cNvSpPr/>
          <p:nvPr/>
        </p:nvSpPr>
        <p:spPr>
          <a:xfrm>
            <a:off x="7772400" y="1449324"/>
            <a:ext cx="146304" cy="109728"/>
          </a:xfrm>
          <a:prstGeom prst="chevron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24"/>
          <p:cNvSpPr/>
          <p:nvPr/>
        </p:nvSpPr>
        <p:spPr>
          <a:xfrm>
            <a:off x="7936992" y="1234440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EEF7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9E3EB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Text 25"/>
          <p:cNvSpPr/>
          <p:nvPr/>
        </p:nvSpPr>
        <p:spPr>
          <a:xfrm>
            <a:off x="8010144" y="13258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080" dirty="0"/>
          </a:p>
        </p:txBody>
      </p:sp>
      <p:sp>
        <p:nvSpPr>
          <p:cNvPr id="36" name="Text 26"/>
          <p:cNvSpPr/>
          <p:nvPr/>
        </p:nvSpPr>
        <p:spPr>
          <a:xfrm>
            <a:off x="8010144" y="1563624"/>
            <a:ext cx="1152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50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SPEF for STA</a:t>
            </a:r>
            <a:endParaRPr lang="en-US" sz="640" dirty="0"/>
          </a:p>
        </p:txBody>
      </p:sp>
      <p:sp>
        <p:nvSpPr>
          <p:cNvPr id="40" name="Shape 30"/>
          <p:cNvSpPr/>
          <p:nvPr/>
        </p:nvSpPr>
        <p:spPr>
          <a:xfrm>
            <a:off x="6080760" y="2148840"/>
            <a:ext cx="5413248" cy="1399032"/>
          </a:xfrm>
          <a:prstGeom prst="roundRect">
            <a:avLst>
              <a:gd name="adj" fmla="val 6536"/>
            </a:avLst>
          </a:prstGeom>
          <a:solidFill>
            <a:srgbClr val="FBFD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7E0E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1" name="Shape 31"/>
          <p:cNvSpPr/>
          <p:nvPr/>
        </p:nvSpPr>
        <p:spPr>
          <a:xfrm>
            <a:off x="6080760" y="2148840"/>
            <a:ext cx="73152" cy="1399032"/>
          </a:xfrm>
          <a:prstGeom prst="rect">
            <a:avLst/>
          </a:prstGeom>
          <a:solidFill>
            <a:srgbClr val="00A5B5"/>
          </a:solidFill>
          <a:ln w="12700">
            <a:solidFill>
              <a:srgbClr val="00A5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32"/>
          <p:cNvSpPr/>
          <p:nvPr/>
        </p:nvSpPr>
        <p:spPr>
          <a:xfrm>
            <a:off x="6291072" y="2331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setup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6291072" y="26700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C3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Pad-level netlist · MMMC timing views · SDC constraints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TSMC 65 nm LEF / technology setup · design handoff files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6080760" y="3767328"/>
            <a:ext cx="5413248" cy="1399032"/>
          </a:xfrm>
          <a:prstGeom prst="roundRect">
            <a:avLst>
              <a:gd name="adj" fmla="val 6536"/>
            </a:avLst>
          </a:prstGeom>
          <a:solidFill>
            <a:srgbClr val="FBFD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7E0E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5" name="Shape 35"/>
          <p:cNvSpPr/>
          <p:nvPr/>
        </p:nvSpPr>
        <p:spPr>
          <a:xfrm>
            <a:off x="6080760" y="3767328"/>
            <a:ext cx="73152" cy="1399032"/>
          </a:xfrm>
          <a:prstGeom prst="rect">
            <a:avLst/>
          </a:prstGeom>
          <a:solidFill>
            <a:srgbClr val="C65A20"/>
          </a:solidFill>
          <a:ln w="12700">
            <a:solidFill>
              <a:srgbClr val="C65A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36"/>
          <p:cNvSpPr/>
          <p:nvPr/>
        </p:nvSpPr>
        <p:spPr>
          <a:xfrm>
            <a:off x="6291072" y="3950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objective</a:t>
            </a:r>
            <a:endParaRPr lang="en-US" sz="1400" dirty="0"/>
          </a:p>
        </p:txBody>
      </p:sp>
      <p:sp>
        <p:nvSpPr>
          <p:cNvPr id="47" name="Text 37"/>
          <p:cNvSpPr/>
          <p:nvPr/>
        </p:nvSpPr>
        <p:spPr>
          <a:xfrm>
            <a:off x="6291072" y="4279392"/>
            <a:ext cx="4800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C3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legal routed pad-level layout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routing, timing, power and signoff requirements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final netlist, SPEF and layout data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777240" y="5806440"/>
            <a:ext cx="10652760" cy="457200"/>
          </a:xfrm>
          <a:prstGeom prst="roundRect">
            <a:avLst>
              <a:gd name="adj" fmla="val 16000"/>
            </a:avLst>
          </a:prstGeom>
          <a:solidFill>
            <a:srgbClr val="F7FBFE"/>
          </a:solidFill>
          <a:ln w="12700">
            <a:solidFill>
              <a:srgbClr val="123B7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39"/>
          <p:cNvSpPr/>
          <p:nvPr/>
        </p:nvSpPr>
        <p:spPr>
          <a:xfrm>
            <a:off x="777240" y="5943600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target: routed pad-level ASIC with extracted parasitics ready for PrimeTime, power and DRC</a:t>
            </a:r>
            <a:r>
              <a:rPr lang="en-US" sz="1400" b="1" dirty="0" smtClean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LVS </a:t>
            </a:r>
            <a:r>
              <a:rPr lang="en-US" sz="1400" b="1" dirty="0">
                <a:solidFill>
                  <a:srgbClr val="0A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signoff</a:t>
            </a:r>
            <a:endParaRPr lang="en-US" sz="1400" dirty="0"/>
          </a:p>
        </p:txBody>
      </p:sp>
      <p:pic>
        <p:nvPicPr>
          <p:cNvPr id="50" name="תמונה 49"/>
          <p:cNvPicPr>
            <a:picLocks noChangeAspect="1"/>
          </p:cNvPicPr>
          <p:nvPr/>
        </p:nvPicPr>
        <p:blipFill rotWithShape="1">
          <a:blip r:embed="rId3"/>
          <a:srcRect t="27617" r="40238" b="3556"/>
          <a:stretch/>
        </p:blipFill>
        <p:spPr>
          <a:xfrm>
            <a:off x="685800" y="2335714"/>
            <a:ext cx="4032504" cy="3086678"/>
          </a:xfrm>
          <a:prstGeom prst="rect">
            <a:avLst/>
          </a:prstGeom>
        </p:spPr>
      </p:pic>
      <p:sp>
        <p:nvSpPr>
          <p:cNvPr id="51" name="lbl"/>
          <p:cNvSpPr/>
          <p:nvPr/>
        </p:nvSpPr>
        <p:spPr>
          <a:xfrm>
            <a:off x="685800" y="2167134"/>
            <a:ext cx="315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Flow driver (full.tcl)</a:t>
            </a:r>
          </a:p>
        </p:txBody>
      </p:sp>
    </p:spTree>
    <p:extLst>
      <p:ext uri="{BB962C8B-B14F-4D97-AF65-F5344CB8AC3E}">
        <p14:creationId xmlns:p14="http://schemas.microsoft.com/office/powerpoint/2010/main" val="201283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/>
          <p:cNvSpPr/>
          <p:nvPr/>
        </p:nvSpPr>
        <p:spPr>
          <a:xfrm>
            <a:off x="593484" y="804954"/>
            <a:ext cx="10332720" cy="0"/>
          </a:xfrm>
          <a:prstGeom prst="line">
            <a:avLst/>
          </a:prstGeom>
          <a:noFill/>
          <a:ln w="7620">
            <a:solidFill>
              <a:srgbClr val="D9E4E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0"/>
          <p:cNvSpPr/>
          <p:nvPr/>
        </p:nvSpPr>
        <p:spPr>
          <a:xfrm>
            <a:off x="5715000" y="4185290"/>
            <a:ext cx="4957765" cy="1577340"/>
          </a:xfrm>
          <a:prstGeom prst="roundRect">
            <a:avLst>
              <a:gd name="adj" fmla="val 6536"/>
            </a:avLst>
          </a:prstGeom>
          <a:solidFill>
            <a:srgbClr val="FBFD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7E0E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593484" y="4240973"/>
            <a:ext cx="4957765" cy="1577340"/>
          </a:xfrm>
          <a:prstGeom prst="roundRect">
            <a:avLst>
              <a:gd name="adj" fmla="val 6536"/>
            </a:avLst>
          </a:prstGeom>
          <a:solidFill>
            <a:srgbClr val="FBFDFF"/>
          </a:solidFill>
          <a:ln w="12700">
            <a:solidFill>
              <a:srgbClr val="B9D4E6"/>
            </a:solidFill>
            <a:prstDash val="solid"/>
          </a:ln>
          <a:effectLst>
            <a:outerShdw blurRad="12700" dist="50800" dir="2700000" algn="bl" rotWithShape="0">
              <a:srgbClr val="D7E0E8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16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502920" y="2286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7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Floorplan &amp; Power Distribution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02920" y="800753"/>
            <a:ext cx="1234440" cy="0"/>
          </a:xfrm>
          <a:prstGeom prst="line">
            <a:avLst/>
          </a:prstGeom>
          <a:noFill/>
          <a:ln w="26670">
            <a:solidFill>
              <a:srgbClr val="06A9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2"/>
          <p:cNvSpPr/>
          <p:nvPr/>
        </p:nvSpPr>
        <p:spPr>
          <a:xfrm>
            <a:off x="502920" y="526433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D5866"/>
                </a:solidFill>
              </a:rPr>
              <a:t>Pad frame, core area and VDD/VSS network prepared before placement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31520" y="24643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6236" y="4240973"/>
            <a:ext cx="113459" cy="1559051"/>
          </a:xfrm>
          <a:prstGeom prst="rect">
            <a:avLst/>
          </a:prstGeom>
          <a:solidFill>
            <a:srgbClr val="06A9C9"/>
          </a:solidFill>
          <a:ln w="12700">
            <a:solidFill>
              <a:srgbClr val="06A9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2"/>
          <p:cNvSpPr/>
          <p:nvPr/>
        </p:nvSpPr>
        <p:spPr>
          <a:xfrm>
            <a:off x="858300" y="431074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2756"/>
                </a:solidFill>
              </a:rPr>
              <a:t>Floorplan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58300" y="457989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Die: 1000 × 950 µm  (0.95 mm²)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8300" y="48542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Core: 646 × 596 µm  (≈0.385 mm²)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58300" y="512853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Pad frame around the digital core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58300" y="540285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Sufficient margin for routing and power delivery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715000" y="4185291"/>
            <a:ext cx="137160" cy="1577340"/>
          </a:xfrm>
          <a:prstGeom prst="rect">
            <a:avLst/>
          </a:prstGeom>
          <a:solidFill>
            <a:srgbClr val="C8642A"/>
          </a:solidFill>
          <a:ln w="12700">
            <a:solidFill>
              <a:srgbClr val="C864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18"/>
          <p:cNvSpPr/>
          <p:nvPr/>
        </p:nvSpPr>
        <p:spPr>
          <a:xfrm>
            <a:off x="6119440" y="431717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2756"/>
                </a:solidFill>
              </a:rPr>
              <a:t>Power Network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141720" y="4676859"/>
            <a:ext cx="4937760" cy="34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VDD/VSS rings connected to pads</a:t>
            </a:r>
          </a:p>
          <a:p>
            <a:r>
              <a:rPr lang="en-US" sz="1100" dirty="0"/>
              <a:t>     </a:t>
            </a:r>
            <a:r>
              <a:rPr lang="en-US" sz="900" dirty="0"/>
              <a:t>M7 top/bottom, M6 left/right, width 10</a:t>
            </a:r>
            <a:r>
              <a:rPr lang="en-US" sz="1000" dirty="0"/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119440" y="4994585"/>
            <a:ext cx="4937760" cy="3076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Horizontal and vertical straps above the core</a:t>
            </a:r>
          </a:p>
          <a:p>
            <a:r>
              <a:rPr lang="en-US" sz="1100" dirty="0"/>
              <a:t>    </a:t>
            </a:r>
            <a:r>
              <a:rPr lang="en-US" sz="1000" dirty="0"/>
              <a:t>M6 vertical + M7 horizontal, width 10, space 50, pitch 110</a:t>
            </a:r>
            <a:r>
              <a:rPr lang="en-US" sz="1100" dirty="0"/>
              <a:t>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19440" y="525433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</a:rPr>
              <a:t>• Standard-cell rail connection and stacked vias (M1 → M7 )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19440" y="5487053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Rail analysis used to guide PDN improvements</a:t>
            </a:r>
            <a:endParaRPr lang="en-US" sz="1200" dirty="0"/>
          </a:p>
        </p:txBody>
      </p:sp>
      <p:pic>
        <p:nvPicPr>
          <p:cNvPr id="29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76916"/>
            <a:ext cx="2150000" cy="351463"/>
          </a:xfrm>
          <a:prstGeom prst="rect">
            <a:avLst/>
          </a:prstGeom>
        </p:spPr>
      </p:pic>
      <p:pic>
        <p:nvPicPr>
          <p:cNvPr id="30" name="תמונה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85" y="1360613"/>
            <a:ext cx="4992266" cy="2745975"/>
          </a:xfrm>
          <a:prstGeom prst="rect">
            <a:avLst/>
          </a:prstGeom>
        </p:spPr>
      </p:pic>
      <p:sp>
        <p:nvSpPr>
          <p:cNvPr id="31" name="lbl"/>
          <p:cNvSpPr/>
          <p:nvPr/>
        </p:nvSpPr>
        <p:spPr>
          <a:xfrm>
            <a:off x="2117974" y="1186620"/>
            <a:ext cx="2362586" cy="1713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Die + pad ring (Innovus)</a:t>
            </a:r>
          </a:p>
        </p:txBody>
      </p:sp>
      <p:pic>
        <p:nvPicPr>
          <p:cNvPr id="34" name="תמונה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785" y="1384724"/>
            <a:ext cx="4948979" cy="2734624"/>
          </a:xfrm>
          <a:prstGeom prst="rect">
            <a:avLst/>
          </a:prstGeom>
        </p:spPr>
      </p:pic>
      <p:sp>
        <p:nvSpPr>
          <p:cNvPr id="35" name="lbl"/>
          <p:cNvSpPr/>
          <p:nvPr/>
        </p:nvSpPr>
        <p:spPr>
          <a:xfrm>
            <a:off x="7110240" y="1184723"/>
            <a:ext cx="51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148"/>
                </a:solidFill>
                <a:latin typeface="Arial" pitchFamily="34" charset="0"/>
                <a:cs typeface="Arial" pitchFamily="34" charset="-120"/>
              </a:rPr>
              <a:t>Power mesh over the core</a:t>
            </a:r>
          </a:p>
        </p:txBody>
      </p:sp>
    </p:spTree>
    <p:extLst>
      <p:ext uri="{BB962C8B-B14F-4D97-AF65-F5344CB8AC3E}">
        <p14:creationId xmlns:p14="http://schemas.microsoft.com/office/powerpoint/2010/main" val="96109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17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347472" y="16459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Placement, Clock Tree &amp; Routing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347472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closure through timing-aware placement, CCOpt CTS and detailed routing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347472" y="786384"/>
            <a:ext cx="10149840" cy="0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3"/>
          <p:cNvSpPr/>
          <p:nvPr/>
        </p:nvSpPr>
        <p:spPr>
          <a:xfrm>
            <a:off x="347472" y="786384"/>
            <a:ext cx="14173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502920" y="1115568"/>
            <a:ext cx="73152" cy="29260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40080" y="11387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64D"/>
                </a:solidFill>
              </a:rPr>
              <a:t>Placement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072" y="4597157"/>
            <a:ext cx="3462528" cy="161817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0160">
            <a:solidFill>
              <a:srgbClr val="9BD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76071" y="4597157"/>
            <a:ext cx="64009" cy="1554976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777239" y="4774127"/>
            <a:ext cx="3100771" cy="22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64D"/>
                </a:solidFill>
              </a:rPr>
              <a:t>Key checks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39" y="5098995"/>
            <a:ext cx="3100771" cy="9657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Timing- and congestion-driven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Clock-gating aware optimization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0 unplaced instances</a:t>
            </a:r>
          </a:p>
          <a:p>
            <a:r>
              <a:rPr lang="en-US" sz="1400" dirty="0">
                <a:solidFill>
                  <a:srgbClr val="111111"/>
                </a:solidFill>
              </a:rPr>
              <a:t>• </a:t>
            </a:r>
            <a:r>
              <a:rPr lang="en-US" sz="1400" dirty="0"/>
              <a:t>Power-driven  </a:t>
            </a:r>
            <a:r>
              <a:rPr lang="en-US" sz="1400" dirty="0" err="1"/>
              <a:t>maxDensity</a:t>
            </a:r>
            <a:r>
              <a:rPr lang="en-US" sz="1400" dirty="0"/>
              <a:t> 0.5</a:t>
            </a:r>
          </a:p>
          <a:p>
            <a:r>
              <a:rPr lang="en-US" sz="1400" dirty="0">
                <a:solidFill>
                  <a:srgbClr val="111111"/>
                </a:solidFill>
              </a:rPr>
              <a:t>• </a:t>
            </a:r>
            <a:r>
              <a:rPr lang="en-US" sz="1400" dirty="0"/>
              <a:t>Core Utilization 38%</a:t>
            </a:r>
          </a:p>
        </p:txBody>
      </p:sp>
      <p:sp>
        <p:nvSpPr>
          <p:cNvPr id="21" name="Shape 19"/>
          <p:cNvSpPr/>
          <p:nvPr/>
        </p:nvSpPr>
        <p:spPr>
          <a:xfrm>
            <a:off x="4318446" y="1115568"/>
            <a:ext cx="73152" cy="292608"/>
          </a:xfrm>
          <a:prstGeom prst="rect">
            <a:avLst/>
          </a:prstGeom>
          <a:solidFill>
            <a:srgbClr val="D56B24"/>
          </a:solidFill>
          <a:ln w="12700">
            <a:solidFill>
              <a:srgbClr val="D56B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4455606" y="112242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64D"/>
                </a:solidFill>
              </a:rPr>
              <a:t>Clock Tree Synthesis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91597" y="4597157"/>
            <a:ext cx="3866137" cy="1587603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0160">
            <a:solidFill>
              <a:srgbClr val="9BD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4391597" y="4597157"/>
            <a:ext cx="64009" cy="1554976"/>
          </a:xfrm>
          <a:prstGeom prst="rect">
            <a:avLst/>
          </a:prstGeom>
          <a:solidFill>
            <a:srgbClr val="D56B24"/>
          </a:solidFill>
          <a:ln w="12700">
            <a:solidFill>
              <a:srgbClr val="D56B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4592765" y="4774127"/>
            <a:ext cx="3100771" cy="22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64D"/>
                </a:solidFill>
              </a:rPr>
              <a:t>Key checks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92765" y="5098996"/>
            <a:ext cx="3100771" cy="578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Clock distributed from input pad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1,063 clock sinks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Skew and insertion optimized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31352" y="1115568"/>
            <a:ext cx="73152" cy="2926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8668512" y="112242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64D"/>
                </a:solidFill>
              </a:rPr>
              <a:t>Routing 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31352" y="4597156"/>
            <a:ext cx="3535680" cy="161817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0160">
            <a:solidFill>
              <a:srgbClr val="9BD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8532153" y="4597156"/>
            <a:ext cx="72351" cy="1587603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8805671" y="4791328"/>
            <a:ext cx="3100771" cy="22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64D"/>
                </a:solidFill>
              </a:rPr>
              <a:t>Key checks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805671" y="5120197"/>
            <a:ext cx="3100771" cy="578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Timing- and SI-aware route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Post-route  optimization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• SPEF extraction for signoff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852136" y="6218427"/>
            <a:ext cx="8503920" cy="45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64D"/>
                </a:solidFill>
              </a:rPr>
              <a:t>Result: routed design with extracted parasitics for final timing and power analysis</a:t>
            </a:r>
            <a:endParaRPr lang="en-US" dirty="0"/>
          </a:p>
        </p:txBody>
      </p:sp>
      <p:pic>
        <p:nvPicPr>
          <p:cNvPr id="41" name="תמונה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41208"/>
            <a:ext cx="3499104" cy="2876206"/>
          </a:xfrm>
          <a:prstGeom prst="rect">
            <a:avLst/>
          </a:prstGeom>
        </p:spPr>
      </p:pic>
      <p:pic>
        <p:nvPicPr>
          <p:cNvPr id="42" name="תמונה 41"/>
          <p:cNvPicPr/>
          <p:nvPr/>
        </p:nvPicPr>
        <p:blipFill rotWithShape="1">
          <a:blip r:embed="rId3"/>
          <a:srcRect t="13549"/>
          <a:stretch/>
        </p:blipFill>
        <p:spPr>
          <a:xfrm>
            <a:off x="4391596" y="1541209"/>
            <a:ext cx="3866139" cy="2763340"/>
          </a:xfrm>
          <a:prstGeom prst="rect">
            <a:avLst/>
          </a:prstGeom>
        </p:spPr>
      </p:pic>
      <p:pic>
        <p:nvPicPr>
          <p:cNvPr id="43" name="תמונה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1519604"/>
            <a:ext cx="3535680" cy="2783988"/>
          </a:xfrm>
          <a:prstGeom prst="rect">
            <a:avLst/>
          </a:prstGeom>
        </p:spPr>
      </p:pic>
      <p:pic>
        <p:nvPicPr>
          <p:cNvPr id="45" name="tau_logo" descr="T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317" y="71624"/>
            <a:ext cx="2358683" cy="38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2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18</a:t>
            </a:fld>
            <a:endParaRPr lang="en-US"/>
          </a:p>
        </p:txBody>
      </p:sp>
      <p:sp>
        <p:nvSpPr>
          <p:cNvPr id="5" name="Text 0"/>
          <p:cNvSpPr/>
          <p:nvPr/>
        </p:nvSpPr>
        <p:spPr>
          <a:xfrm>
            <a:off x="347472" y="16459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64D"/>
                </a:solidFill>
                <a:latin typeface="Arial" pitchFamily="34" charset="0"/>
                <a:ea typeface="Aptos"/>
                <a:cs typeface="Arial" pitchFamily="34" charset="-120"/>
              </a:rPr>
              <a:t>Post-Route Power Analysis</a:t>
            </a:r>
            <a:endParaRPr lang="en-US" sz="2400" dirty="0">
              <a:ea typeface="Aptos"/>
            </a:endParaRPr>
          </a:p>
        </p:txBody>
      </p:sp>
      <p:sp>
        <p:nvSpPr>
          <p:cNvPr id="6" name="Text 1"/>
          <p:cNvSpPr/>
          <p:nvPr/>
        </p:nvSpPr>
        <p:spPr>
          <a:xfrm>
            <a:off x="347472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B66"/>
                </a:solidFill>
                <a:latin typeface="Arial" pitchFamily="34" charset="0"/>
                <a:ea typeface="Aptos"/>
                <a:cs typeface="Arial" pitchFamily="34" charset="-120"/>
              </a:rPr>
              <a:t>SAIF-based Innovus power reports for each interpolation factor and analysis view</a:t>
            </a:r>
            <a:endParaRPr lang="en-US" sz="1350" dirty="0">
              <a:ea typeface="Aptos"/>
            </a:endParaRPr>
          </a:p>
        </p:txBody>
      </p:sp>
      <p:sp>
        <p:nvSpPr>
          <p:cNvPr id="7" name="Shape 2"/>
          <p:cNvSpPr/>
          <p:nvPr/>
        </p:nvSpPr>
        <p:spPr>
          <a:xfrm>
            <a:off x="347472" y="786384"/>
            <a:ext cx="10149840" cy="0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3"/>
          <p:cNvSpPr/>
          <p:nvPr/>
        </p:nvSpPr>
        <p:spPr>
          <a:xfrm>
            <a:off x="347472" y="786384"/>
            <a:ext cx="14173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0" name="Rounded Rectangle 13"/>
          <p:cNvSpPr/>
          <p:nvPr/>
        </p:nvSpPr>
        <p:spPr>
          <a:xfrm>
            <a:off x="502920" y="3319272"/>
            <a:ext cx="55778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2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4"/>
          <p:cNvSpPr/>
          <p:nvPr/>
        </p:nvSpPr>
        <p:spPr>
          <a:xfrm>
            <a:off x="512064" y="3355848"/>
            <a:ext cx="73152" cy="768096"/>
          </a:xfrm>
          <a:prstGeom prst="rect">
            <a:avLst/>
          </a:prstGeom>
          <a:solidFill>
            <a:srgbClr val="00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85800" y="345643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52148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85800" y="3730752"/>
            <a:ext cx="50749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40" b="0">
                <a:solidFill>
                  <a:srgbClr val="1C2026"/>
                </a:solidFill>
                <a:latin typeface="Aptos"/>
              </a:defRPr>
            </a:pPr>
            <a:r>
              <a:rPr sz="1100" dirty="0"/>
              <a:t>As L increases, the output </a:t>
            </a:r>
            <a:r>
              <a:rPr sz="1100" dirty="0" err="1"/>
              <a:t>datapath</a:t>
            </a:r>
            <a:r>
              <a:rPr sz="1100" dirty="0"/>
              <a:t> toggles more frequently. The pad-level total includes I/O and support circuitry; I0 isolates the interpolation core.</a:t>
            </a:r>
          </a:p>
        </p:txBody>
      </p:sp>
      <p:sp>
        <p:nvSpPr>
          <p:cNvPr id="164" name="Rounded Rectangle 17"/>
          <p:cNvSpPr/>
          <p:nvPr/>
        </p:nvSpPr>
        <p:spPr>
          <a:xfrm>
            <a:off x="502920" y="4334256"/>
            <a:ext cx="5577840" cy="1161288"/>
          </a:xfrm>
          <a:prstGeom prst="roundRect">
            <a:avLst/>
          </a:prstGeom>
          <a:solidFill>
            <a:srgbClr val="EFF8FC"/>
          </a:solidFill>
          <a:ln w="10160">
            <a:solidFill>
              <a:srgbClr val="00A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31520" y="448056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1">
                <a:solidFill>
                  <a:srgbClr val="052148"/>
                </a:solidFill>
                <a:latin typeface="Aptos"/>
              </a:defRPr>
            </a:pPr>
            <a:r>
              <a:t>SAIF-based estimation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8680" y="4809744"/>
            <a:ext cx="42519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700" b="1">
                <a:solidFill>
                  <a:srgbClr val="00AEC2"/>
                </a:solidFill>
                <a:latin typeface="Aptos"/>
              </a:defRPr>
            </a:pPr>
            <a:r>
              <a:rPr dirty="0" err="1"/>
              <a:t>P</a:t>
            </a:r>
            <a:r>
              <a:rPr lang="en-US" sz="800" dirty="0" err="1"/>
              <a:t>switching</a:t>
            </a:r>
            <a:r>
              <a:rPr lang="he-IL" sz="800" dirty="0"/>
              <a:t> </a:t>
            </a:r>
            <a:r>
              <a:rPr dirty="0"/>
              <a:t> ≈ Σ αᵢ · Cᵢ · V² · f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22960" y="5193792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60" b="0">
                <a:solidFill>
                  <a:srgbClr val="5C6776"/>
                </a:solidFill>
                <a:latin typeface="Aptos"/>
              </a:defRPr>
            </a:pPr>
            <a:r>
              <a:t>SAIF supplies αᵢ: realistic toggle counts and logic-state probabilities from gate-level simulation.</a:t>
            </a:r>
          </a:p>
        </p:txBody>
      </p:sp>
      <p:sp>
        <p:nvSpPr>
          <p:cNvPr id="168" name="Rounded Rectangle 21"/>
          <p:cNvSpPr/>
          <p:nvPr/>
        </p:nvSpPr>
        <p:spPr>
          <a:xfrm>
            <a:off x="4407408" y="4507992"/>
            <a:ext cx="132588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4517136" y="459028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760" b="1">
                <a:solidFill>
                  <a:srgbClr val="052148"/>
                </a:solidFill>
                <a:latin typeface="Aptos"/>
              </a:defRPr>
            </a:pPr>
            <a:r>
              <a:t>Annotation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17136" y="47274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00AEC2"/>
                </a:solidFill>
                <a:latin typeface="Aptos"/>
              </a:defRPr>
            </a:pPr>
            <a:r>
              <a:t>75.37%</a:t>
            </a:r>
          </a:p>
        </p:txBody>
      </p:sp>
      <p:sp>
        <p:nvSpPr>
          <p:cNvPr id="171" name="Rectangle 24"/>
          <p:cNvSpPr/>
          <p:nvPr/>
        </p:nvSpPr>
        <p:spPr>
          <a:xfrm>
            <a:off x="6446520" y="3355848"/>
            <a:ext cx="64008" cy="265176"/>
          </a:xfrm>
          <a:prstGeom prst="rect">
            <a:avLst/>
          </a:prstGeom>
          <a:solidFill>
            <a:srgbClr val="00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6556248" y="33192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52148"/>
                </a:solidFill>
                <a:latin typeface="Aptos"/>
              </a:defRPr>
            </a:pPr>
            <a:r>
              <a:t>Rail Integrity</a:t>
            </a:r>
          </a:p>
        </p:txBody>
      </p:sp>
      <p:sp>
        <p:nvSpPr>
          <p:cNvPr id="175" name="Rounded Rectangle 28"/>
          <p:cNvSpPr/>
          <p:nvPr/>
        </p:nvSpPr>
        <p:spPr>
          <a:xfrm>
            <a:off x="9948672" y="3749039"/>
            <a:ext cx="1874519" cy="1956817"/>
          </a:xfrm>
          <a:prstGeom prst="roundRect">
            <a:avLst/>
          </a:prstGeom>
          <a:solidFill>
            <a:srgbClr val="052148"/>
          </a:solidFill>
          <a:ln>
            <a:solidFill>
              <a:srgbClr val="052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0131552" y="3895344"/>
            <a:ext cx="15087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1">
                <a:solidFill>
                  <a:srgbClr val="FFFFFF"/>
                </a:solidFill>
                <a:latin typeface="Aptos"/>
              </a:defRPr>
            </a:pPr>
            <a:r>
              <a:rPr dirty="0"/>
              <a:t>Rail summary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013670" y="4157472"/>
            <a:ext cx="1690648" cy="1287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Grid connectivity: </a:t>
            </a:r>
            <a:r>
              <a:rPr lang="en-GB" sz="105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Clean </a:t>
            </a:r>
            <a:r>
              <a:rPr lang="en-GB" sz="11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- </a:t>
            </a:r>
            <a:r>
              <a:rPr lang="en-GB" sz="8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0 violations and 0 warnings</a:t>
            </a:r>
          </a:p>
          <a:p>
            <a:pPr algn="l">
              <a:spcAft>
                <a:spcPts val="30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Static IR drop — Slow view </a:t>
            </a:r>
            <a:r>
              <a:rPr lang="en-GB" sz="8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Maximum VDD drop: 189.1 mV Maximum VSS ground rise: 213.6 mV</a:t>
            </a:r>
          </a:p>
          <a:p>
            <a:pPr>
              <a:spcAft>
                <a:spcPts val="300"/>
              </a:spcAft>
            </a:pPr>
            <a:r>
              <a:rPr lang="en-GB" sz="8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The power grid is fully connected, but localized voltage drop indicates that the PDN should be strengthened in future work.</a:t>
            </a:r>
            <a:endParaRPr lang="en-US" sz="8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8" name="Rounded Rectangle 31"/>
          <p:cNvSpPr/>
          <p:nvPr/>
        </p:nvSpPr>
        <p:spPr>
          <a:xfrm>
            <a:off x="502920" y="5920740"/>
            <a:ext cx="1132027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52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471675" y="6048117"/>
            <a:ext cx="1094384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60" b="1">
                <a:solidFill>
                  <a:srgbClr val="052148"/>
                </a:solidFill>
                <a:latin typeface="Aptos"/>
              </a:defRPr>
            </a:pPr>
            <a:r>
              <a:rPr lang="he-IL" sz="1100" b="1" dirty="0">
                <a:solidFill>
                  <a:srgbClr val="052148"/>
                </a:solidFill>
                <a:latin typeface="Aptos"/>
              </a:rPr>
              <a:t>Power increases with L; power-grid connectivity passed, while IR-drop analysis identified PDN strengthening as the main improvement.</a:t>
            </a:r>
            <a:endParaRPr sz="1100" dirty="0"/>
          </a:p>
        </p:txBody>
      </p:sp>
      <p:pic>
        <p:nvPicPr>
          <p:cNvPr id="181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317" y="71624"/>
            <a:ext cx="2358683" cy="385577"/>
          </a:xfrm>
          <a:prstGeom prst="rect">
            <a:avLst/>
          </a:prstGeom>
        </p:spPr>
      </p:pic>
      <p:pic>
        <p:nvPicPr>
          <p:cNvPr id="9" name="תמונה 45">
            <a:extLst>
              <a:ext uri="{FF2B5EF4-FFF2-40B4-BE49-F238E27FC236}">
                <a16:creationId xmlns:a16="http://schemas.microsoft.com/office/drawing/2014/main" id="{AA5D13F3-E6A9-11B6-756A-EA23F816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" t="14319" r="9278" b="7879"/>
          <a:stretch>
            <a:fillRect/>
          </a:stretch>
        </p:blipFill>
        <p:spPr>
          <a:xfrm>
            <a:off x="6328636" y="3895344"/>
            <a:ext cx="3437157" cy="1549908"/>
          </a:xfrm>
          <a:prstGeom prst="rect">
            <a:avLst/>
          </a:prstGeom>
        </p:spPr>
      </p:pic>
      <p:sp>
        <p:nvSpPr>
          <p:cNvPr id="44" name="Rectangle 5"/>
          <p:cNvSpPr/>
          <p:nvPr/>
        </p:nvSpPr>
        <p:spPr>
          <a:xfrm>
            <a:off x="502920" y="1162109"/>
            <a:ext cx="64008" cy="265176"/>
          </a:xfrm>
          <a:prstGeom prst="rect">
            <a:avLst/>
          </a:prstGeom>
          <a:solidFill>
            <a:srgbClr val="00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1176132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52148"/>
                </a:solidFill>
                <a:latin typeface="Aptos"/>
              </a:defRPr>
            </a:pPr>
            <a:r>
              <a:rPr dirty="0"/>
              <a:t>Total Pad-Level Design Power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11526" y="1219114"/>
            <a:ext cx="59486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770" b="0">
                <a:solidFill>
                  <a:srgbClr val="5C6776"/>
                </a:solidFill>
                <a:latin typeface="Aptos"/>
              </a:defRPr>
            </a:pPr>
            <a:r>
              <a:rPr lang="he-IL" sz="1000" dirty="0"/>
              <a:t>]</a:t>
            </a:r>
            <a:r>
              <a:rPr sz="1000" dirty="0" err="1" smtClean="0"/>
              <a:t>mW</a:t>
            </a:r>
            <a:r>
              <a:rPr lang="he-IL" sz="1000" dirty="0" smtClean="0"/>
              <a:t>[</a:t>
            </a:r>
            <a:endParaRPr sz="1000" dirty="0"/>
          </a:p>
        </p:txBody>
      </p:sp>
      <p:graphicFrame>
        <p:nvGraphicFramePr>
          <p:cNvPr id="47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77997"/>
              </p:ext>
            </p:extLst>
          </p:nvPr>
        </p:nvGraphicFramePr>
        <p:xfrm>
          <a:off x="502920" y="1618488"/>
          <a:ext cx="5440677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L</a:t>
                      </a:r>
                    </a:p>
                  </a:txBody>
                  <a:tcPr marL="25400" marR="25400" marT="12700" marB="12700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SlowView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TypView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FastView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0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93.204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80.703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128.525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112.566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103.597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155.429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115.263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107.006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159.500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117.161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109.509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162.620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Rectangle 9"/>
          <p:cNvSpPr/>
          <p:nvPr/>
        </p:nvSpPr>
        <p:spPr>
          <a:xfrm>
            <a:off x="6263640" y="1225296"/>
            <a:ext cx="64008" cy="265176"/>
          </a:xfrm>
          <a:prstGeom prst="rect">
            <a:avLst/>
          </a:prstGeom>
          <a:solidFill>
            <a:srgbClr val="D86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5626" y="1214216"/>
            <a:ext cx="39771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52148"/>
                </a:solidFill>
                <a:latin typeface="Aptos"/>
              </a:defRPr>
            </a:pPr>
            <a:r>
              <a:rPr dirty="0" smtClean="0"/>
              <a:t>Core </a:t>
            </a:r>
            <a:r>
              <a:rPr lang="he-IL" dirty="0"/>
              <a:t> </a:t>
            </a:r>
            <a:r>
              <a:rPr dirty="0" smtClean="0"/>
              <a:t>Power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183614" y="1226856"/>
            <a:ext cx="863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770" b="0">
                <a:solidFill>
                  <a:srgbClr val="5C6776"/>
                </a:solidFill>
                <a:latin typeface="Aptos"/>
              </a:defRPr>
            </a:pPr>
            <a:r>
              <a:rPr lang="he-IL" sz="1000" dirty="0" smtClean="0"/>
              <a:t>]</a:t>
            </a:r>
            <a:r>
              <a:rPr sz="1000" dirty="0" err="1" smtClean="0"/>
              <a:t>mW</a:t>
            </a:r>
            <a:r>
              <a:rPr lang="he-IL" sz="1000" dirty="0" smtClean="0"/>
              <a:t>[</a:t>
            </a:r>
            <a:endParaRPr sz="900" dirty="0"/>
          </a:p>
        </p:txBody>
      </p:sp>
      <p:graphicFrame>
        <p:nvGraphicFramePr>
          <p:cNvPr id="51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71915"/>
              </p:ext>
            </p:extLst>
          </p:nvPr>
        </p:nvGraphicFramePr>
        <p:xfrm>
          <a:off x="6263640" y="1618488"/>
          <a:ext cx="5440677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L</a:t>
                      </a:r>
                    </a:p>
                  </a:txBody>
                  <a:tcPr marL="25400" marR="25400" marT="12700" marB="12700">
                    <a:solidFill>
                      <a:srgbClr val="D86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SlowView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D86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TypView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D868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 err="1"/>
                        <a:t>FastView</a:t>
                      </a:r>
                      <a:endParaRPr sz="1200" dirty="0"/>
                    </a:p>
                  </a:txBody>
                  <a:tcPr marL="25400" marR="25400" marT="12700" marB="12700">
                    <a:solidFill>
                      <a:srgbClr val="D86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16.32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19.53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24.24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20.78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25.04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30.84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24.47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29.62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36.27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/>
                        <a:t>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28.75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34.89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C2026"/>
                          </a:solidFill>
                          <a:latin typeface="Aptos"/>
                        </a:defRPr>
                      </a:pPr>
                      <a:r>
                        <a:rPr sz="1200" dirty="0"/>
                        <a:t>42.63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84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2"/>
          <p:cNvSpPr/>
          <p:nvPr/>
        </p:nvSpPr>
        <p:spPr>
          <a:xfrm flipV="1">
            <a:off x="6654051" y="1150803"/>
            <a:ext cx="4983147" cy="18545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Rounded Rectangle 16"/>
          <p:cNvSpPr/>
          <p:nvPr/>
        </p:nvSpPr>
        <p:spPr>
          <a:xfrm>
            <a:off x="9275716" y="4866732"/>
            <a:ext cx="2361482" cy="1292584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Shape 2"/>
          <p:cNvSpPr/>
          <p:nvPr/>
        </p:nvSpPr>
        <p:spPr>
          <a:xfrm flipV="1">
            <a:off x="243647" y="1169348"/>
            <a:ext cx="5937136" cy="26692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294283" y="6356350"/>
            <a:ext cx="2743200" cy="365125"/>
          </a:xfrm>
        </p:spPr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3"/>
          <p:cNvSpPr/>
          <p:nvPr/>
        </p:nvSpPr>
        <p:spPr>
          <a:xfrm>
            <a:off x="264102" y="1178760"/>
            <a:ext cx="1143000" cy="36576"/>
          </a:xfrm>
          <a:prstGeom prst="rect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4102" y="1280347"/>
            <a:ext cx="2565128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defRPr sz="1500" b="1">
                <a:solidFill>
                  <a:srgbClr val="072448"/>
                </a:solidFill>
                <a:latin typeface="Aptos"/>
              </a:defRPr>
            </a:pPr>
            <a:r>
              <a:t>Corners Checked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264102" y="4707100"/>
            <a:ext cx="5546763" cy="7406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4560" y="4970404"/>
            <a:ext cx="5041192" cy="40011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defRPr sz="1000" b="0">
                <a:solidFill>
                  <a:srgbClr val="1C2128"/>
                </a:solidFill>
                <a:latin typeface="Aptos"/>
              </a:defRPr>
            </a:pPr>
            <a:r>
              <a:rPr dirty="0"/>
              <a:t>Methodology: </a:t>
            </a:r>
            <a:r>
              <a:rPr dirty="0" err="1"/>
              <a:t>PrimeTime</a:t>
            </a:r>
            <a:r>
              <a:rPr dirty="0"/>
              <a:t> used the post-layout netlist, extracted SPEF, timing libraries and final SDC constraints with propagated clocks.</a:t>
            </a:r>
          </a:p>
        </p:txBody>
      </p:sp>
      <p:sp>
        <p:nvSpPr>
          <p:cNvPr id="22" name="Rounded Rectangle 20"/>
          <p:cNvSpPr/>
          <p:nvPr/>
        </p:nvSpPr>
        <p:spPr>
          <a:xfrm>
            <a:off x="264102" y="5633818"/>
            <a:ext cx="5546763" cy="427898"/>
          </a:xfrm>
          <a:prstGeom prst="roundRect">
            <a:avLst/>
          </a:prstGeom>
          <a:solidFill>
            <a:srgbClr val="072448"/>
          </a:solidFill>
          <a:ln>
            <a:solidFill>
              <a:srgbClr val="07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402" y="5647800"/>
            <a:ext cx="4801350" cy="461665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Takeaway: the routed ASIC meets final setup and hold timing after parasitic extraction.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469" y="559545"/>
            <a:ext cx="5840895" cy="46496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defRPr sz="2900" b="0">
                <a:solidFill>
                  <a:srgbClr val="1C2128"/>
                </a:solidFill>
                <a:latin typeface="Aptos"/>
              </a:defRPr>
            </a:pPr>
            <a:r>
              <a:rPr sz="2400" b="1" dirty="0">
                <a:latin typeface="Aptos"/>
                <a:ea typeface="Aptos"/>
              </a:rPr>
              <a:t>Post</a:t>
            </a:r>
            <a:r>
              <a:rPr lang="he-IL" sz="2400" b="1" dirty="0">
                <a:latin typeface="Aptos"/>
                <a:ea typeface="Aptos"/>
              </a:rPr>
              <a:t> </a:t>
            </a:r>
            <a:r>
              <a:rPr sz="2400" b="1" dirty="0">
                <a:latin typeface="Aptos"/>
                <a:ea typeface="Aptos"/>
              </a:rPr>
              <a:t>Layout STA — </a:t>
            </a:r>
            <a:r>
              <a:rPr sz="2400" b="1" dirty="0" err="1">
                <a:latin typeface="Aptos"/>
                <a:ea typeface="Aptos"/>
              </a:rPr>
              <a:t>PrimeTime</a:t>
            </a:r>
            <a:endParaRPr sz="2400" b="1" dirty="0">
              <a:latin typeface="Aptos"/>
              <a:ea typeface="Aptos"/>
            </a:endParaRPr>
          </a:p>
        </p:txBody>
      </p:sp>
      <p:pic>
        <p:nvPicPr>
          <p:cNvPr id="25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317" y="50160"/>
            <a:ext cx="2358683" cy="385577"/>
          </a:xfrm>
          <a:prstGeom prst="rect">
            <a:avLst/>
          </a:prstGeom>
        </p:spPr>
      </p:pic>
      <p:pic>
        <p:nvPicPr>
          <p:cNvPr id="29" name="תמונה 28"/>
          <p:cNvPicPr/>
          <p:nvPr/>
        </p:nvPicPr>
        <p:blipFill>
          <a:blip r:embed="rId3"/>
          <a:stretch>
            <a:fillRect/>
          </a:stretch>
        </p:blipFill>
        <p:spPr>
          <a:xfrm>
            <a:off x="6961404" y="1629663"/>
            <a:ext cx="4392396" cy="3040035"/>
          </a:xfrm>
          <a:prstGeom prst="rect">
            <a:avLst/>
          </a:prstGeom>
        </p:spPr>
      </p:pic>
      <p:sp>
        <p:nvSpPr>
          <p:cNvPr id="32" name="Rounded Rectangle 16"/>
          <p:cNvSpPr/>
          <p:nvPr/>
        </p:nvSpPr>
        <p:spPr>
          <a:xfrm>
            <a:off x="6836490" y="4866732"/>
            <a:ext cx="2397829" cy="1292583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6920008" y="4934595"/>
            <a:ext cx="2149057" cy="276999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1900" b="1">
                <a:solidFill>
                  <a:srgbClr val="0A2C55"/>
                </a:solidFill>
                <a:latin typeface="Aptos"/>
              </a:defRPr>
            </a:pPr>
            <a:r>
              <a:rPr sz="1200" dirty="0"/>
              <a:t>Utilization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5950" y="5294846"/>
            <a:ext cx="1983527" cy="26161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1350" b="0">
                <a:solidFill>
                  <a:srgbClr val="555F6E"/>
                </a:solidFill>
                <a:latin typeface="Aptos"/>
              </a:defRPr>
            </a:pPr>
            <a:r>
              <a:rPr sz="1050" dirty="0"/>
              <a:t>Functional cells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3542" y="5295964"/>
            <a:ext cx="905523" cy="276999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r">
              <a:defRPr sz="1800" b="1">
                <a:solidFill>
                  <a:srgbClr val="00A0B4"/>
                </a:solidFill>
                <a:latin typeface="Aptos"/>
              </a:defRPr>
            </a:pPr>
            <a:r>
              <a:rPr sz="1200" dirty="0"/>
              <a:t>38.77%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5950" y="5610017"/>
            <a:ext cx="1983527" cy="261610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1350" b="0">
                <a:solidFill>
                  <a:srgbClr val="555F6E"/>
                </a:solidFill>
                <a:latin typeface="Aptos"/>
              </a:defRPr>
            </a:pPr>
            <a:r>
              <a:rPr sz="1050"/>
              <a:t>Including fillers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9309" y="5546955"/>
            <a:ext cx="566536" cy="276999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r">
              <a:defRPr sz="1800" b="1">
                <a:solidFill>
                  <a:srgbClr val="00A0B4"/>
                </a:solidFill>
                <a:latin typeface="Aptos"/>
              </a:defRPr>
            </a:pPr>
            <a:r>
              <a:rPr lang="he-IL" sz="1200" dirty="0"/>
              <a:t>100</a:t>
            </a:r>
            <a:r>
              <a:rPr sz="1200" dirty="0"/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4712" y="435737"/>
            <a:ext cx="4351713" cy="461665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3000" b="0">
                <a:solidFill>
                  <a:srgbClr val="232830"/>
                </a:solidFill>
                <a:latin typeface="Aptos"/>
              </a:defRPr>
            </a:pPr>
            <a:r>
              <a:rPr sz="2400" b="1" dirty="0"/>
              <a:t>Filler and </a:t>
            </a:r>
            <a:r>
              <a:rPr sz="2400" b="1" dirty="0" err="1"/>
              <a:t>Decap</a:t>
            </a:r>
            <a:r>
              <a:rPr sz="2400" b="1" dirty="0"/>
              <a:t> Cells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4712" y="814876"/>
            <a:ext cx="4545676" cy="276999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1200" b="0">
                <a:solidFill>
                  <a:srgbClr val="555F6E"/>
                </a:solidFill>
                <a:latin typeface="Aptos"/>
              </a:defRPr>
            </a:pPr>
            <a:r>
              <a:rPr dirty="0"/>
              <a:t>Physical finishing step before extraction, STA and final signoff</a:t>
            </a:r>
          </a:p>
        </p:txBody>
      </p:sp>
      <p:sp>
        <p:nvSpPr>
          <p:cNvPr id="40" name="Rectangle 3"/>
          <p:cNvSpPr/>
          <p:nvPr/>
        </p:nvSpPr>
        <p:spPr>
          <a:xfrm>
            <a:off x="6622386" y="1140463"/>
            <a:ext cx="1051560" cy="45719"/>
          </a:xfrm>
          <a:prstGeom prst="rect">
            <a:avLst/>
          </a:prstGeom>
          <a:solidFill>
            <a:srgbClr val="00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86665" y="4902910"/>
            <a:ext cx="2340556" cy="246221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algn="l">
              <a:defRPr sz="1900" b="1">
                <a:solidFill>
                  <a:srgbClr val="0A2C55"/>
                </a:solidFill>
                <a:latin typeface="Aptos"/>
              </a:defRPr>
            </a:pPr>
            <a:r>
              <a:rPr sz="1000" dirty="0"/>
              <a:t>Why are they inserted?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6666" y="5144956"/>
            <a:ext cx="2250534" cy="369332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450" b="0">
                <a:solidFill>
                  <a:srgbClr val="232830"/>
                </a:solidFill>
                <a:latin typeface="Aptos"/>
              </a:defRPr>
            </a:pPr>
            <a:r>
              <a:rPr sz="900" dirty="0"/>
              <a:t>Fill unused gaps between standard cells after routing/ECO.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6665" y="5472042"/>
            <a:ext cx="2250533" cy="369332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450" b="0">
                <a:solidFill>
                  <a:srgbClr val="232830"/>
                </a:solidFill>
                <a:latin typeface="Aptos"/>
              </a:defRPr>
            </a:pPr>
            <a:r>
              <a:rPr sz="900" dirty="0"/>
              <a:t>Keep well continuity and continuous VDD/VSS rails across rows.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3642" y="5789984"/>
            <a:ext cx="2250533" cy="369332"/>
          </a:xfrm>
          <a:prstGeom prst="rect">
            <a:avLst/>
          </a:prstGeom>
          <a:noFill/>
        </p:spPr>
        <p:txBody>
          <a:bodyPr wrap="square" lIns="50800" rIns="5080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450" b="0">
                <a:solidFill>
                  <a:srgbClr val="232830"/>
                </a:solidFill>
                <a:latin typeface="Aptos"/>
              </a:defRPr>
            </a:pPr>
            <a:r>
              <a:rPr sz="900" dirty="0" err="1"/>
              <a:t>Decap</a:t>
            </a:r>
            <a:r>
              <a:rPr sz="900" dirty="0"/>
              <a:t> cells add local capacitance to help stabilize the supply.</a:t>
            </a:r>
          </a:p>
        </p:txBody>
      </p:sp>
      <p:graphicFrame>
        <p:nvGraphicFramePr>
          <p:cNvPr id="30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88602"/>
              </p:ext>
            </p:extLst>
          </p:nvPr>
        </p:nvGraphicFramePr>
        <p:xfrm>
          <a:off x="296330" y="1725608"/>
          <a:ext cx="5514535" cy="261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5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Check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Corner / View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Purpose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dirty="0"/>
                        <a:t>Final WNS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Setup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 dirty="0"/>
                        <a:t>Slow corner / Max delay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Worst-case data-path delay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8A58"/>
                          </a:solidFill>
                          <a:latin typeface="Aptos"/>
                        </a:defRPr>
                      </a:pPr>
                      <a:r>
                        <a:rPr sz="1200" dirty="0"/>
                        <a:t>+0.29 ns — MET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Hold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Fast corner / Min delay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 dirty="0"/>
                        <a:t>Worst-case short-path delay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8A58"/>
                          </a:solidFill>
                          <a:latin typeface="Aptos"/>
                        </a:defRPr>
                      </a:pPr>
                      <a:r>
                        <a:rPr sz="1200" dirty="0"/>
                        <a:t>+0.86 ns — MET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3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Typical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/>
                        <a:t>Typical view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C2128"/>
                          </a:solidFill>
                          <a:latin typeface="Aptos"/>
                        </a:defRPr>
                      </a:pPr>
                      <a:r>
                        <a:rPr sz="1200" dirty="0"/>
                        <a:t>Sanity / consistency check</a:t>
                      </a:r>
                    </a:p>
                  </a:txBody>
                  <a:tcPr marL="38100" marR="381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8A58"/>
                          </a:solidFill>
                          <a:latin typeface="Aptos"/>
                        </a:defRPr>
                      </a:pPr>
                      <a:r>
                        <a:rPr sz="1200" dirty="0"/>
                        <a:t>No signoff violation reported</a:t>
                      </a:r>
                    </a:p>
                  </a:txBody>
                  <a:tcPr marL="38100" marR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6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20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280416" y="211015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8264D"/>
                </a:solidFill>
                <a:latin typeface="Arial" pitchFamily="34" charset="0"/>
                <a:ea typeface="Aptos"/>
                <a:cs typeface="Arial" pitchFamily="34" charset="-120"/>
              </a:rPr>
              <a:t>Physical Verification — DRC &amp; LVS</a:t>
            </a:r>
            <a:endParaRPr lang="en-US" sz="2400" dirty="0">
              <a:ea typeface="Aptos"/>
            </a:endParaRPr>
          </a:p>
        </p:txBody>
      </p:sp>
      <p:sp>
        <p:nvSpPr>
          <p:cNvPr id="5" name="Text 1"/>
          <p:cNvSpPr/>
          <p:nvPr/>
        </p:nvSpPr>
        <p:spPr>
          <a:xfrm>
            <a:off x="280416" y="549343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>
                <a:solidFill>
                  <a:srgbClr val="0D3B66"/>
                </a:solidFill>
                <a:latin typeface="Arial" pitchFamily="34" charset="0"/>
                <a:ea typeface="Aptos"/>
                <a:cs typeface="Arial" pitchFamily="34" charset="-120"/>
              </a:rPr>
              <a:t>Calibre and Innovus checks used to validate geometry, connectivity and extracted layout equivalence</a:t>
            </a:r>
            <a:endParaRPr lang="en-US" sz="1350" dirty="0">
              <a:ea typeface="Apto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80416" y="832807"/>
            <a:ext cx="10149840" cy="0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3"/>
          <p:cNvSpPr/>
          <p:nvPr/>
        </p:nvSpPr>
        <p:spPr>
          <a:xfrm>
            <a:off x="280416" y="832807"/>
            <a:ext cx="14173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83811" y="1125415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8264D"/>
                </a:solidFill>
              </a:rPr>
              <a:t>Connectivity Report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0976" y="1097983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8264D"/>
                </a:solidFill>
              </a:rPr>
              <a:t> DRC Result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19898" y="1125415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8264D"/>
                </a:solidFill>
              </a:rPr>
              <a:t> LVS 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1312" y="4024063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EF8F1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701040" y="4115503"/>
            <a:ext cx="2112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98754"/>
                </a:solidFill>
              </a:rPr>
              <a:t>0 violations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2752" y="4481263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8264D"/>
                </a:solidFill>
              </a:rPr>
              <a:t>Innovus DRC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2752" y="4682431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dirty="0">
                <a:solidFill>
                  <a:srgbClr val="5B6673"/>
                </a:solidFill>
              </a:rPr>
              <a:t>implementation-level checks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243072" y="4024063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8F8FC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3352800" y="4115503"/>
            <a:ext cx="2112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A6C8"/>
                </a:solidFill>
              </a:rPr>
              <a:t>PASS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4512" y="4481263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8264D"/>
                </a:solidFill>
              </a:rPr>
              <a:t>Connectivity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4512" y="4682431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dirty="0">
                <a:solidFill>
                  <a:srgbClr val="5B6673"/>
                </a:solidFill>
              </a:rPr>
              <a:t>no problems / warnings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894832" y="4024063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EF8F1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6004560" y="4115503"/>
            <a:ext cx="2112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98754"/>
                </a:solidFill>
              </a:rPr>
              <a:t>CORRECT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86272" y="4481263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8264D"/>
                </a:solidFill>
              </a:rPr>
              <a:t>Calibre LVS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86272" y="4682431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dirty="0">
                <a:solidFill>
                  <a:srgbClr val="5B6673"/>
                </a:solidFill>
              </a:rPr>
              <a:t>layout vs. source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546592" y="4024063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3E9"/>
          </a:solidFill>
          <a:ln w="12700">
            <a:solidFill>
              <a:srgbClr val="D56B2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8656320" y="4115503"/>
            <a:ext cx="2112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D56B24"/>
                </a:solidFill>
              </a:rPr>
              <a:t>Reviewed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638032" y="4481263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8264D"/>
                </a:solidFill>
              </a:rPr>
              <a:t>Calibre DRC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38032" y="4682431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dirty="0">
                <a:solidFill>
                  <a:srgbClr val="5B6673"/>
                </a:solidFill>
              </a:rPr>
              <a:t>pad / technology checks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47344" y="5368231"/>
            <a:ext cx="10149840" cy="658368"/>
          </a:xfrm>
          <a:prstGeom prst="roundRect">
            <a:avLst>
              <a:gd name="adj" fmla="val 6944"/>
            </a:avLst>
          </a:prstGeom>
          <a:solidFill>
            <a:srgbClr val="FFFDFB"/>
          </a:solidFill>
          <a:ln w="10160">
            <a:solidFill>
              <a:srgbClr val="9BD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847344" y="5368231"/>
            <a:ext cx="64008" cy="658368"/>
          </a:xfrm>
          <a:prstGeom prst="rect">
            <a:avLst/>
          </a:prstGeom>
          <a:solidFill>
            <a:srgbClr val="D56B24"/>
          </a:solidFill>
          <a:ln w="12700">
            <a:solidFill>
              <a:srgbClr val="D56B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1048512" y="5496247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8264D"/>
                </a:solidFill>
              </a:rPr>
              <a:t>DRC/LVS note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48512" y="5797999"/>
            <a:ext cx="98298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Innovus geometry/connectivity checks were clean. Calibre LVS reports CORRECT. Remaining Calibre DRC markers are mainly pad/ESD or technology/fill related and were reviewed within the academic project scope.</a:t>
            </a:r>
            <a:endParaRPr lang="en-US" sz="900" dirty="0"/>
          </a:p>
        </p:txBody>
      </p:sp>
      <p:pic>
        <p:nvPicPr>
          <p:cNvPr id="41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317" y="71624"/>
            <a:ext cx="2358683" cy="385577"/>
          </a:xfrm>
          <a:prstGeom prst="rect">
            <a:avLst/>
          </a:prstGeom>
        </p:spPr>
      </p:pic>
      <p:pic>
        <p:nvPicPr>
          <p:cNvPr id="42" name="תמונה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78" y="1382861"/>
            <a:ext cx="3906565" cy="2173445"/>
          </a:xfrm>
          <a:prstGeom prst="rect">
            <a:avLst/>
          </a:prstGeom>
          <a:ln>
            <a:solidFill>
              <a:srgbClr val="0A2E5C"/>
            </a:solidFill>
          </a:ln>
        </p:spPr>
      </p:pic>
      <p:pic>
        <p:nvPicPr>
          <p:cNvPr id="43" name="תמונה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547" y="1363158"/>
            <a:ext cx="3415366" cy="2193147"/>
          </a:xfrm>
          <a:prstGeom prst="rect">
            <a:avLst/>
          </a:prstGeom>
          <a:ln>
            <a:solidFill>
              <a:srgbClr val="0A2E5C"/>
            </a:solidFill>
          </a:ln>
        </p:spPr>
      </p:pic>
      <p:pic>
        <p:nvPicPr>
          <p:cNvPr id="44" name="viol" descr="preencoded.png"/>
          <p:cNvPicPr>
            <a:picLocks noChangeAspect="1"/>
          </p:cNvPicPr>
          <p:nvPr/>
        </p:nvPicPr>
        <p:blipFill rotWithShape="1">
          <a:blip r:embed="rId5"/>
          <a:srcRect t="11292" r="10658" b="7111"/>
          <a:stretch/>
        </p:blipFill>
        <p:spPr>
          <a:xfrm>
            <a:off x="4362203" y="1344872"/>
            <a:ext cx="3824209" cy="2211434"/>
          </a:xfrm>
          <a:prstGeom prst="rect">
            <a:avLst/>
          </a:prstGeom>
          <a:ln w="9525">
            <a:solidFill>
              <a:srgbClr val="0A2E5C"/>
            </a:solidFill>
          </a:ln>
        </p:spPr>
      </p:pic>
      <p:sp>
        <p:nvSpPr>
          <p:cNvPr id="45" name="מלבן 44"/>
          <p:cNvSpPr/>
          <p:nvPr/>
        </p:nvSpPr>
        <p:spPr>
          <a:xfrm>
            <a:off x="8356698" y="3600537"/>
            <a:ext cx="3423139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LVS: extracted layout netlist (</a:t>
            </a:r>
            <a:r>
              <a:rPr lang="en-US" sz="700" dirty="0" err="1"/>
              <a:t>top.sp</a:t>
            </a:r>
            <a:r>
              <a:rPr lang="en-US" sz="700" dirty="0"/>
              <a:t>) vs. reference SPICE netlist (</a:t>
            </a:r>
            <a:r>
              <a:rPr lang="en-US" sz="700" dirty="0" err="1"/>
              <a:t>top_eco_nocorner.spi</a:t>
            </a:r>
            <a:r>
              <a:rPr lang="en-US" sz="700" dirty="0"/>
              <a:t>)</a:t>
            </a:r>
            <a:endParaRPr lang="he-IL" sz="700" dirty="0"/>
          </a:p>
        </p:txBody>
      </p:sp>
    </p:spTree>
    <p:extLst>
      <p:ext uri="{BB962C8B-B14F-4D97-AF65-F5344CB8AC3E}">
        <p14:creationId xmlns:p14="http://schemas.microsoft.com/office/powerpoint/2010/main" val="293068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21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347472" y="16459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Post-Layout </a:t>
            </a:r>
            <a:r>
              <a:rPr lang="en-US" sz="2400" b="1" dirty="0">
                <a:solidFill>
                  <a:srgbClr val="08264D"/>
                </a:solidFill>
                <a:latin typeface="Aptos Display"/>
                <a:ea typeface="Arial" pitchFamily="34" charset="-122"/>
                <a:cs typeface="Arial" pitchFamily="34" charset="-120"/>
              </a:rPr>
              <a:t>Results</a:t>
            </a:r>
            <a:endParaRPr lang="en-US" sz="2200" dirty="0">
              <a:latin typeface="Aptos Display"/>
            </a:endParaRPr>
          </a:p>
        </p:txBody>
      </p:sp>
      <p:sp>
        <p:nvSpPr>
          <p:cNvPr id="5" name="Text 1"/>
          <p:cNvSpPr/>
          <p:nvPr/>
        </p:nvSpPr>
        <p:spPr>
          <a:xfrm>
            <a:off x="347472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B66"/>
                </a:solidFill>
                <a:ea typeface="Arial" pitchFamily="34" charset="-122"/>
                <a:cs typeface="Arial" pitchFamily="34" charset="-120"/>
              </a:rPr>
              <a:t>Summary of routed ASIC metrics and signoff evidence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347472" y="786384"/>
            <a:ext cx="10149840" cy="0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3"/>
          <p:cNvSpPr/>
          <p:nvPr/>
        </p:nvSpPr>
        <p:spPr>
          <a:xfrm>
            <a:off x="347472" y="786384"/>
            <a:ext cx="14173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76656" y="1100769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64D"/>
                </a:solidFill>
              </a:rPr>
              <a:t> Final Layout view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66929" y="5294039"/>
            <a:ext cx="4663440" cy="1005840"/>
          </a:xfrm>
          <a:prstGeom prst="roundRect">
            <a:avLst>
              <a:gd name="adj" fmla="val 4545"/>
            </a:avLst>
          </a:prstGeom>
          <a:solidFill>
            <a:srgbClr val="F9FFFB"/>
          </a:solidFill>
          <a:ln w="10160">
            <a:solidFill>
              <a:srgbClr val="9BD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566928" y="5294039"/>
            <a:ext cx="64008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53"/>
          <p:cNvSpPr/>
          <p:nvPr/>
        </p:nvSpPr>
        <p:spPr>
          <a:xfrm>
            <a:off x="768096" y="5422055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264D"/>
                </a:solidFill>
              </a:rPr>
              <a:t>Main Handoff Files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68096" y="5723807"/>
            <a:ext cx="43525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Post-layout Verilog netlist • extracted SPEF files • final reports • LVS/DRC evidence • power-analysis reports</a:t>
            </a:r>
            <a:endParaRPr lang="en-US" sz="1400" dirty="0"/>
          </a:p>
        </p:txBody>
      </p:sp>
      <p:pic>
        <p:nvPicPr>
          <p:cNvPr id="58" name="תמונה 57"/>
          <p:cNvPicPr/>
          <p:nvPr/>
        </p:nvPicPr>
        <p:blipFill>
          <a:blip r:embed="rId2"/>
          <a:stretch>
            <a:fillRect/>
          </a:stretch>
        </p:blipFill>
        <p:spPr>
          <a:xfrm>
            <a:off x="612648" y="1313949"/>
            <a:ext cx="4617720" cy="3852411"/>
          </a:xfrm>
          <a:prstGeom prst="rect">
            <a:avLst/>
          </a:prstGeom>
          <a:ln>
            <a:solidFill>
              <a:srgbClr val="0A2E5C"/>
            </a:solidFill>
          </a:ln>
        </p:spPr>
      </p:pic>
      <p:pic>
        <p:nvPicPr>
          <p:cNvPr id="59" name="tau_logo" descr="T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000" y="58529"/>
            <a:ext cx="2150000" cy="351463"/>
          </a:xfrm>
          <a:prstGeom prst="rect">
            <a:avLst/>
          </a:prstGeom>
        </p:spPr>
      </p:pic>
      <p:sp>
        <p:nvSpPr>
          <p:cNvPr id="24" name="Text 55"/>
          <p:cNvSpPr/>
          <p:nvPr/>
        </p:nvSpPr>
        <p:spPr>
          <a:xfrm>
            <a:off x="5605272" y="6282214"/>
            <a:ext cx="5712824" cy="2103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Final outcome: routed, timed, power-characterized and physically checked pad-level ASIC </a:t>
            </a:r>
            <a:r>
              <a:rPr lang="en-US" sz="1100" b="1" dirty="0">
                <a:solidFill>
                  <a:schemeClr val="bg1"/>
                </a:solidFill>
              </a:rPr>
              <a:t>implementation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9" name="Shape 13"/>
          <p:cNvSpPr/>
          <p:nvPr/>
        </p:nvSpPr>
        <p:spPr>
          <a:xfrm>
            <a:off x="5532120" y="966501"/>
            <a:ext cx="74853" cy="29260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14"/>
          <p:cNvSpPr/>
          <p:nvPr/>
        </p:nvSpPr>
        <p:spPr>
          <a:xfrm>
            <a:off x="5669280" y="1028841"/>
            <a:ext cx="327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64D"/>
                </a:solidFill>
              </a:rPr>
              <a:t>Final Metrics</a:t>
            </a:r>
            <a:endParaRPr lang="en-US" dirty="0"/>
          </a:p>
        </p:txBody>
      </p:sp>
      <p:graphicFrame>
        <p:nvGraphicFramePr>
          <p:cNvPr id="31" name="טבלה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83850"/>
              </p:ext>
            </p:extLst>
          </p:nvPr>
        </p:nvGraphicFramePr>
        <p:xfrm>
          <a:off x="5532120" y="1339771"/>
          <a:ext cx="5957018" cy="2902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78509">
                  <a:extLst>
                    <a:ext uri="{9D8B030D-6E8A-4147-A177-3AD203B41FA5}">
                      <a16:colId xmlns:a16="http://schemas.microsoft.com/office/drawing/2014/main" val="3972139802"/>
                    </a:ext>
                  </a:extLst>
                </a:gridCol>
                <a:gridCol w="2978509">
                  <a:extLst>
                    <a:ext uri="{9D8B030D-6E8A-4147-A177-3AD203B41FA5}">
                      <a16:colId xmlns:a16="http://schemas.microsoft.com/office/drawing/2014/main" val="1726239033"/>
                    </a:ext>
                  </a:extLst>
                </a:gridCol>
              </a:tblGrid>
              <a:tr h="240181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Metric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Final Result</a:t>
                      </a:r>
                    </a:p>
                  </a:txBody>
                  <a:tcPr marL="90653" marR="90653" marT="45326" marB="4532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336672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Technology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TSMC 65 nm LP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873354137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Interpolation modes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 = 2, 3, 4, 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90050000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Output rate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120–300 </a:t>
                      </a:r>
                      <a:r>
                        <a:rPr lang="en-US" sz="1000" dirty="0" err="1"/>
                        <a:t>MSa</a:t>
                      </a:r>
                      <a:r>
                        <a:rPr lang="en-US" sz="1000" dirty="0"/>
                        <a:t>/s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904121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Die area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0.95 mm²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76000839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Core area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0.385 mm²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90285330"/>
                  </a:ext>
                </a:extLst>
              </a:tr>
              <a:tr h="225641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Core utilization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38.77% functional / 100% with fillers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4100056"/>
                  </a:ext>
                </a:extLst>
              </a:tr>
              <a:tr h="31313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Final </a:t>
                      </a:r>
                      <a:r>
                        <a:rPr lang="en-US" sz="1000" dirty="0" smtClean="0"/>
                        <a:t> </a:t>
                      </a:r>
                      <a:r>
                        <a:rPr lang="en-US" sz="1000" dirty="0"/>
                        <a:t>slack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Setup : +0.29 ns / Hold</a:t>
                      </a:r>
                      <a:r>
                        <a:rPr lang="en-US" sz="1000" baseline="0" dirty="0" smtClean="0"/>
                        <a:t> :</a:t>
                      </a:r>
                      <a:r>
                        <a:rPr lang="en-US" sz="1000" dirty="0" smtClean="0"/>
                        <a:t>+0.86 ns</a:t>
                      </a:r>
                    </a:p>
                    <a:p>
                      <a:pPr algn="l"/>
                      <a:endParaRPr lang="en-US" sz="1000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52129476"/>
                  </a:ext>
                </a:extLst>
              </a:tr>
              <a:tr h="202815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Typical power @ L=5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109.51 </a:t>
                      </a:r>
                      <a:r>
                        <a:rPr lang="en-US" sz="1000" dirty="0" err="1"/>
                        <a:t>mW</a:t>
                      </a:r>
                      <a:r>
                        <a:rPr lang="en-US" sz="1000" dirty="0"/>
                        <a:t> full chip / 34.89 </a:t>
                      </a:r>
                      <a:r>
                        <a:rPr lang="en-US" sz="1000" dirty="0" err="1"/>
                        <a:t>mW</a:t>
                      </a:r>
                      <a:r>
                        <a:rPr lang="en-US" sz="1000" dirty="0"/>
                        <a:t> core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38026271"/>
                  </a:ext>
                </a:extLst>
              </a:tr>
              <a:tr h="508606"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/>
                        <a:t>Physical </a:t>
                      </a:r>
                      <a:r>
                        <a:rPr lang="en-US" sz="1000" dirty="0"/>
                        <a:t>verification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000" dirty="0">
                          <a:latin typeface="+mn-lt"/>
                        </a:rPr>
                        <a:t>Innovus DRC: clean; Calibre LVS: CORRECT; remaining DRC exceptions reviewed.</a:t>
                      </a:r>
                    </a:p>
                    <a:p>
                      <a:pPr algn="l"/>
                      <a:endParaRPr lang="fr-FR" sz="1000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78813743"/>
                  </a:ext>
                </a:extLst>
              </a:tr>
            </a:tbl>
          </a:graphicData>
        </a:graphic>
      </p:graphicFrame>
      <p:sp>
        <p:nvSpPr>
          <p:cNvPr id="32" name="Shape 13"/>
          <p:cNvSpPr/>
          <p:nvPr/>
        </p:nvSpPr>
        <p:spPr>
          <a:xfrm>
            <a:off x="5516154" y="4315883"/>
            <a:ext cx="74853" cy="292608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14"/>
          <p:cNvSpPr/>
          <p:nvPr/>
        </p:nvSpPr>
        <p:spPr>
          <a:xfrm>
            <a:off x="5669280" y="4338391"/>
            <a:ext cx="327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64D"/>
                </a:solidFill>
              </a:rPr>
              <a:t>Final Signal Quality Results</a:t>
            </a:r>
            <a:endParaRPr lang="en-US" dirty="0"/>
          </a:p>
        </p:txBody>
      </p:sp>
      <p:graphicFrame>
        <p:nvGraphicFramePr>
          <p:cNvPr id="34" name="טבלה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09942"/>
              </p:ext>
            </p:extLst>
          </p:nvPr>
        </p:nvGraphicFramePr>
        <p:xfrm>
          <a:off x="5508165" y="4704643"/>
          <a:ext cx="5980972" cy="13351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95243">
                  <a:extLst>
                    <a:ext uri="{9D8B030D-6E8A-4147-A177-3AD203B41FA5}">
                      <a16:colId xmlns:a16="http://schemas.microsoft.com/office/drawing/2014/main" val="904359719"/>
                    </a:ext>
                  </a:extLst>
                </a:gridCol>
                <a:gridCol w="1495243">
                  <a:extLst>
                    <a:ext uri="{9D8B030D-6E8A-4147-A177-3AD203B41FA5}">
                      <a16:colId xmlns:a16="http://schemas.microsoft.com/office/drawing/2014/main" val="2888324139"/>
                    </a:ext>
                  </a:extLst>
                </a:gridCol>
                <a:gridCol w="1495243">
                  <a:extLst>
                    <a:ext uri="{9D8B030D-6E8A-4147-A177-3AD203B41FA5}">
                      <a16:colId xmlns:a16="http://schemas.microsoft.com/office/drawing/2014/main" val="3966315026"/>
                    </a:ext>
                  </a:extLst>
                </a:gridCol>
                <a:gridCol w="1495243">
                  <a:extLst>
                    <a:ext uri="{9D8B030D-6E8A-4147-A177-3AD203B41FA5}">
                      <a16:colId xmlns:a16="http://schemas.microsoft.com/office/drawing/2014/main" val="1223228690"/>
                    </a:ext>
                  </a:extLst>
                </a:gridCol>
              </a:tblGrid>
              <a:tr h="64492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Up-sampling factor (L)</a:t>
                      </a:r>
                      <a:endParaRPr lang="en-US" sz="18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MATLAB </a:t>
                      </a:r>
                      <a:endParaRPr lang="en-US" sz="1800" dirty="0">
                        <a:effectLst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EVM [</a:t>
                      </a:r>
                      <a:r>
                        <a:rPr lang="en-US" sz="1200" dirty="0" err="1">
                          <a:effectLst/>
                        </a:rPr>
                        <a:t>m%rms</a:t>
                      </a:r>
                      <a:r>
                        <a:rPr lang="en-US" sz="1200" dirty="0">
                          <a:effectLst/>
                        </a:rPr>
                        <a:t>]</a:t>
                      </a:r>
                      <a:endParaRPr lang="en-US" sz="18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RTL </a:t>
                      </a:r>
                      <a:endParaRPr lang="en-US" sz="1800" dirty="0">
                        <a:effectLst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EVM [</a:t>
                      </a:r>
                      <a:r>
                        <a:rPr lang="en-US" sz="1200" dirty="0" err="1">
                          <a:effectLst/>
                        </a:rPr>
                        <a:t>m%rms</a:t>
                      </a:r>
                      <a:r>
                        <a:rPr lang="en-US" sz="1200" dirty="0">
                          <a:effectLst/>
                        </a:rPr>
                        <a:t>]</a:t>
                      </a:r>
                      <a:endParaRPr lang="en-US" sz="18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Requirement</a:t>
                      </a:r>
                      <a:endParaRPr lang="en-US" sz="1800" dirty="0">
                        <a:effectLst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Target: &lt; 350m%rms</a:t>
                      </a:r>
                      <a:endParaRPr lang="en-US" sz="18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472808"/>
                  </a:ext>
                </a:extLst>
              </a:tr>
              <a:tr h="17418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116.21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110.00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Pass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982574"/>
                  </a:ext>
                </a:extLst>
              </a:tr>
              <a:tr h="17418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186.41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174.88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Pass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4158020"/>
                  </a:ext>
                </a:extLst>
              </a:tr>
              <a:tr h="17418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192.94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186.37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Pass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6837495"/>
                  </a:ext>
                </a:extLst>
              </a:tr>
              <a:tr h="16292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77.88</a:t>
                      </a:r>
                      <a:endParaRPr lang="en-US" sz="140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72.80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Pass</a:t>
                      </a:r>
                      <a:endParaRPr lang="en-US" sz="1400" dirty="0">
                        <a:solidFill>
                          <a:srgbClr val="1E2630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851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3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7589520" cy="461665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l">
              <a:defRPr sz="2900" b="0">
                <a:solidFill>
                  <a:srgbClr val="1C2128"/>
                </a:solidFill>
                <a:latin typeface="Aptos"/>
              </a:defRPr>
            </a:pPr>
            <a:r>
              <a:rPr sz="2400" b="1" dirty="0"/>
              <a:t>Future Work &amp; Project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04088"/>
            <a:ext cx="8961120" cy="300082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l">
              <a:defRPr sz="900" b="0">
                <a:solidFill>
                  <a:srgbClr val="072448"/>
                </a:solidFill>
                <a:latin typeface="Aptos"/>
              </a:defRPr>
            </a:pPr>
            <a:r>
              <a:rPr sz="1350" dirty="0"/>
              <a:t>Next steps for improving the spline interpolation ASIC and preserving the complete project flow</a:t>
            </a:r>
          </a:p>
        </p:txBody>
      </p:sp>
      <p:sp>
        <p:nvSpPr>
          <p:cNvPr id="6" name="Rectangle 3"/>
          <p:cNvSpPr/>
          <p:nvPr/>
        </p:nvSpPr>
        <p:spPr>
          <a:xfrm>
            <a:off x="502920" y="987552"/>
            <a:ext cx="1143000" cy="36576"/>
          </a:xfrm>
          <a:prstGeom prst="rect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tau_logo" descr="TA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000" y="58529"/>
            <a:ext cx="2150000" cy="351463"/>
          </a:xfrm>
          <a:prstGeom prst="rect">
            <a:avLst/>
          </a:prstGeom>
        </p:spPr>
      </p:pic>
      <p:sp>
        <p:nvSpPr>
          <p:cNvPr id="41" name="Shape 2"/>
          <p:cNvSpPr/>
          <p:nvPr/>
        </p:nvSpPr>
        <p:spPr>
          <a:xfrm>
            <a:off x="518204" y="1024128"/>
            <a:ext cx="10149840" cy="0"/>
          </a:xfrm>
          <a:prstGeom prst="line">
            <a:avLst/>
          </a:prstGeom>
          <a:noFill/>
          <a:ln w="8890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Rounded Rectangle 21"/>
          <p:cNvSpPr/>
          <p:nvPr/>
        </p:nvSpPr>
        <p:spPr>
          <a:xfrm>
            <a:off x="7520940" y="1839569"/>
            <a:ext cx="3886200" cy="2536488"/>
          </a:xfrm>
          <a:prstGeom prst="roundRect">
            <a:avLst/>
          </a:prstGeom>
          <a:solidFill>
            <a:srgbClr val="072448"/>
          </a:solidFill>
          <a:ln>
            <a:solidFill>
              <a:srgbClr val="07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22"/>
          <p:cNvSpPr/>
          <p:nvPr/>
        </p:nvSpPr>
        <p:spPr>
          <a:xfrm>
            <a:off x="7822692" y="2073261"/>
            <a:ext cx="685800" cy="6624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41565" y="2187041"/>
            <a:ext cx="438912" cy="228600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ctr">
              <a:defRPr sz="1600" b="1">
                <a:solidFill>
                  <a:srgbClr val="072448"/>
                </a:solidFill>
                <a:latin typeface="Aptos"/>
              </a:defRPr>
            </a:pPr>
            <a:r>
              <a:t>&lt; 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9661" y="2068169"/>
            <a:ext cx="2286000" cy="256032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Repository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9661" y="2379065"/>
            <a:ext cx="2194560" cy="276999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l">
              <a:defRPr sz="1100" b="1">
                <a:solidFill>
                  <a:srgbClr val="C7EAF1"/>
                </a:solidFill>
                <a:latin typeface="Aptos"/>
              </a:defRPr>
            </a:pPr>
            <a:r>
              <a:rPr sz="1200" dirty="0" err="1"/>
              <a:t>Spline_ASIC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859269" y="2900273"/>
            <a:ext cx="3154680" cy="276999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rPr dirty="0">
                <a:hlinkClick r:id="rId3"/>
              </a:rPr>
              <a:t>https://</a:t>
            </a:r>
            <a:r>
              <a:rPr sz="1200" dirty="0">
                <a:hlinkClick r:id="rId3"/>
              </a:rPr>
              <a:t>github.com/marianajjar/Spline_ASIC.git</a:t>
            </a:r>
            <a:endParaRPr dirty="0">
              <a:hlinkClick r:id="rId3"/>
            </a:endParaRPr>
          </a:p>
        </p:txBody>
      </p:sp>
      <p:sp>
        <p:nvSpPr>
          <p:cNvPr id="48" name="Rectangle 27"/>
          <p:cNvSpPr/>
          <p:nvPr/>
        </p:nvSpPr>
        <p:spPr>
          <a:xfrm>
            <a:off x="7877557" y="3250425"/>
            <a:ext cx="3063240" cy="45719"/>
          </a:xfrm>
          <a:prstGeom prst="rect">
            <a:avLst/>
          </a:prstGeom>
          <a:solidFill>
            <a:srgbClr val="426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15595" y="3349953"/>
            <a:ext cx="3154680" cy="201168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ctr">
              <a:defRPr sz="900" b="1">
                <a:solidFill>
                  <a:srgbClr val="C7EAF1"/>
                </a:solidFill>
                <a:latin typeface="Aptos"/>
              </a:defRPr>
            </a:pPr>
            <a:r>
              <a:t>Repository includes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5595" y="3660849"/>
            <a:ext cx="3154680" cy="530352"/>
          </a:xfrm>
          <a:prstGeom prst="rect">
            <a:avLst/>
          </a:prstGeom>
          <a:noFill/>
        </p:spPr>
        <p:txBody>
          <a:bodyPr wrap="square" lIns="12700" rIns="12700" anchor="t">
            <a:spAutoFit/>
          </a:bodyPr>
          <a:lstStyle/>
          <a:p>
            <a:pPr algn="ctr">
              <a:defRPr sz="840" b="0">
                <a:solidFill>
                  <a:srgbClr val="FFFFFF"/>
                </a:solidFill>
                <a:latin typeface="Aptos"/>
              </a:defRPr>
            </a:pPr>
            <a:r>
              <a:t>MATLAB models  ·  RTL  ·  Verification</a:t>
            </a:r>
            <a:br/>
            <a:r>
              <a:t>Synthesis &amp; Innovus scripts  ·  Reports  ·  Documentation</a:t>
            </a:r>
          </a:p>
        </p:txBody>
      </p:sp>
      <p:sp>
        <p:nvSpPr>
          <p:cNvPr id="51" name="Rectangle 4"/>
          <p:cNvSpPr/>
          <p:nvPr/>
        </p:nvSpPr>
        <p:spPr>
          <a:xfrm>
            <a:off x="594360" y="1833714"/>
            <a:ext cx="54864" cy="256032"/>
          </a:xfrm>
          <a:prstGeom prst="rect">
            <a:avLst/>
          </a:prstGeom>
          <a:solidFill>
            <a:srgbClr val="00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2" name="TextBox 5"/>
          <p:cNvSpPr txBox="1"/>
          <p:nvPr/>
        </p:nvSpPr>
        <p:spPr>
          <a:xfrm>
            <a:off x="713232" y="1806282"/>
            <a:ext cx="2743200" cy="307777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072448"/>
                </a:solidFill>
                <a:latin typeface="Aptos"/>
              </a:defRPr>
            </a:pPr>
            <a:r>
              <a:rPr dirty="0"/>
              <a:t>Future </a:t>
            </a:r>
            <a:r>
              <a:rPr dirty="0" smtClean="0"/>
              <a:t>Work</a:t>
            </a:r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502920" y="2236050"/>
            <a:ext cx="6402847" cy="32316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Power-Delivery </a:t>
            </a:r>
            <a:r>
              <a:rPr lang="en-US" sz="1600" b="1" dirty="0" smtClean="0"/>
              <a:t>Improvement :</a:t>
            </a:r>
            <a:r>
              <a:rPr lang="en-US" sz="1600" dirty="0"/>
              <a:t>Strengthen the PDN with additional VDD/VSS pads and improved power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 </a:t>
            </a:r>
            <a:r>
              <a:rPr lang="en-US" sz="1600" b="1" dirty="0"/>
              <a:t>FPGA </a:t>
            </a:r>
            <a:r>
              <a:rPr lang="en-US" sz="1600" b="1" dirty="0" smtClean="0"/>
              <a:t>Prototyping: </a:t>
            </a:r>
            <a:r>
              <a:rPr lang="en-US" sz="1600" dirty="0" smtClean="0"/>
              <a:t>Validate </a:t>
            </a:r>
            <a:r>
              <a:rPr lang="en-US" sz="1600" dirty="0"/>
              <a:t>the full architecture in real time at a reduced/scaled operating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DFT &amp; ATPG </a:t>
            </a:r>
            <a:r>
              <a:rPr lang="en-US" sz="1600" b="1" dirty="0" smtClean="0"/>
              <a:t>Extension</a:t>
            </a:r>
            <a:r>
              <a:rPr lang="en-US" sz="1600" dirty="0" smtClean="0"/>
              <a:t>: Add </a:t>
            </a:r>
            <a:r>
              <a:rPr lang="en-US" sz="1600" dirty="0"/>
              <a:t>scan chains, then generate stuck-at/transition patterns and evaluate fault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Architecture </a:t>
            </a:r>
            <a:r>
              <a:rPr lang="en-US" sz="1600" b="1" dirty="0" smtClean="0"/>
              <a:t>Extension: </a:t>
            </a:r>
            <a:r>
              <a:rPr lang="en-US" sz="1600" dirty="0" smtClean="0"/>
              <a:t>Architecture </a:t>
            </a:r>
            <a:r>
              <a:rPr lang="en-US" sz="1600" dirty="0"/>
              <a:t>Extension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8956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b18074-2e25-445a-a43c-d5fe17a86f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F899771E305748BD5E4F175924328F" ma:contentTypeVersion="14" ma:contentTypeDescription="Create a new document." ma:contentTypeScope="" ma:versionID="605dbb3f402bdfc1ee0a8587524a0a91">
  <xsd:schema xmlns:xsd="http://www.w3.org/2001/XMLSchema" xmlns:xs="http://www.w3.org/2001/XMLSchema" xmlns:p="http://schemas.microsoft.com/office/2006/metadata/properties" xmlns:ns3="ecb18074-2e25-445a-a43c-d5fe17a86fa1" xmlns:ns4="37d32a27-c764-46a0-a3a7-eed991e123d6" targetNamespace="http://schemas.microsoft.com/office/2006/metadata/properties" ma:root="true" ma:fieldsID="ea43172c686ad37010a63eb68bec1e12" ns3:_="" ns4:_="">
    <xsd:import namespace="ecb18074-2e25-445a-a43c-d5fe17a86fa1"/>
    <xsd:import namespace="37d32a27-c764-46a0-a3a7-eed991e123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18074-2e25-445a-a43c-d5fe17a86f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32a27-c764-46a0-a3a7-eed991e123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86F07B-7B26-46C5-874B-E2FF1A6F2D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0B2290-6692-4545-BB9D-6C11DDB5D396}">
  <ds:schemaRefs>
    <ds:schemaRef ds:uri="http://schemas.microsoft.com/office/2006/metadata/properties"/>
    <ds:schemaRef ds:uri="37d32a27-c764-46a0-a3a7-eed991e123d6"/>
    <ds:schemaRef ds:uri="http://purl.org/dc/dcmitype/"/>
    <ds:schemaRef ds:uri="http://schemas.microsoft.com/office/2006/documentManagement/types"/>
    <ds:schemaRef ds:uri="ecb18074-2e25-445a-a43c-d5fe17a86fa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1F68AA6-4CE0-4800-A45B-BB78B3D92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b18074-2e25-445a-a43c-d5fe17a86fa1"/>
    <ds:schemaRef ds:uri="37d32a27-c764-46a0-a3a7-eed991e123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2823</Words>
  <Application>Microsoft Office PowerPoint</Application>
  <PresentationFormat>מסך רחב</PresentationFormat>
  <Paragraphs>593</Paragraphs>
  <Slides>22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Calibri Light</vt:lpstr>
      <vt:lpstr>Cambria Math</vt:lpstr>
      <vt:lpstr>Courier New</vt:lpstr>
      <vt:lpstr>MS Mincho</vt:lpstr>
      <vt:lpstr>Times New Roman</vt:lpstr>
      <vt:lpstr>Office Theme</vt:lpstr>
      <vt:lpstr>  RTL&amp; full flow to GDSII| TSMC 65nm 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MyPc</cp:lastModifiedBy>
  <cp:revision>57</cp:revision>
  <dcterms:created xsi:type="dcterms:W3CDTF">2021-12-15T06:30:50Z</dcterms:created>
  <dcterms:modified xsi:type="dcterms:W3CDTF">2026-09-02T15:49:25Z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0x010100D7F899771E305748BD5E4F175924328F</vt:lpwstr>
  </property>
</Properties>
</file>